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4"/>
  </p:sldMasterIdLst>
  <p:notesMasterIdLst>
    <p:notesMasterId r:id="rId15"/>
  </p:notesMasterIdLst>
  <p:handoutMasterIdLst>
    <p:handoutMasterId r:id="rId16"/>
  </p:handoutMasterIdLst>
  <p:sldIdLst>
    <p:sldId id="256" r:id="rId5"/>
    <p:sldId id="262" r:id="rId6"/>
    <p:sldId id="263" r:id="rId7"/>
    <p:sldId id="264" r:id="rId8"/>
    <p:sldId id="266" r:id="rId9"/>
    <p:sldId id="267" r:id="rId10"/>
    <p:sldId id="268" r:id="rId11"/>
    <p:sldId id="269" r:id="rId12"/>
    <p:sldId id="270" r:id="rId13"/>
    <p:sldId id="271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CF2F610-5F6F-4CB9-A015-F611DFDE8DFF}" type="doc">
      <dgm:prSet loTypeId="urn:microsoft.com/office/officeart/2005/8/layout/vList2" loCatId="list" qsTypeId="urn:microsoft.com/office/officeart/2005/8/quickstyle/simple4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BAD9D520-BBDD-4A52-ADBB-B49657DA2859}">
      <dgm:prSet/>
      <dgm:spPr/>
      <dgm:t>
        <a:bodyPr/>
        <a:lstStyle/>
        <a:p>
          <a:r>
            <a:rPr lang="en-US" b="0" i="0" dirty="0"/>
            <a:t>Geographical Distribution of COVID-19 Cases </a:t>
          </a:r>
          <a:endParaRPr lang="en-US" dirty="0"/>
        </a:p>
      </dgm:t>
    </dgm:pt>
    <dgm:pt modelId="{7AD21136-087A-4E1D-8FA4-0922DF9919CD}" type="parTrans" cxnId="{5570C23A-00D5-43C1-BB08-17483BD0898C}">
      <dgm:prSet/>
      <dgm:spPr/>
      <dgm:t>
        <a:bodyPr/>
        <a:lstStyle/>
        <a:p>
          <a:endParaRPr lang="en-US"/>
        </a:p>
      </dgm:t>
    </dgm:pt>
    <dgm:pt modelId="{14DE97C9-A3C0-4F23-951C-9347C84540F2}" type="sibTrans" cxnId="{5570C23A-00D5-43C1-BB08-17483BD0898C}">
      <dgm:prSet/>
      <dgm:spPr/>
      <dgm:t>
        <a:bodyPr/>
        <a:lstStyle/>
        <a:p>
          <a:endParaRPr lang="en-US"/>
        </a:p>
      </dgm:t>
    </dgm:pt>
    <dgm:pt modelId="{AFCE8F1E-FC17-4667-A980-706A4D6E3FEE}">
      <dgm:prSet/>
      <dgm:spPr/>
      <dgm:t>
        <a:bodyPr/>
        <a:lstStyle/>
        <a:p>
          <a:r>
            <a:rPr lang="en-US" dirty="0"/>
            <a:t>This map shows the total number of cases caused by COVID-19 across Indian states.</a:t>
          </a:r>
        </a:p>
      </dgm:t>
    </dgm:pt>
    <dgm:pt modelId="{96897285-A128-4B18-B5F2-9D8B8EE21F41}" type="parTrans" cxnId="{4FC1EAC3-A923-408F-A92A-AC9573A6F814}">
      <dgm:prSet/>
      <dgm:spPr/>
      <dgm:t>
        <a:bodyPr/>
        <a:lstStyle/>
        <a:p>
          <a:endParaRPr lang="en-US"/>
        </a:p>
      </dgm:t>
    </dgm:pt>
    <dgm:pt modelId="{296BE703-BB7B-40DE-B80B-5480FCD58143}" type="sibTrans" cxnId="{4FC1EAC3-A923-408F-A92A-AC9573A6F814}">
      <dgm:prSet/>
      <dgm:spPr/>
      <dgm:t>
        <a:bodyPr/>
        <a:lstStyle/>
        <a:p>
          <a:endParaRPr lang="en-US"/>
        </a:p>
      </dgm:t>
    </dgm:pt>
    <dgm:pt modelId="{76782858-4E52-49DA-99CB-4944A0934F56}">
      <dgm:prSet/>
      <dgm:spPr/>
      <dgm:t>
        <a:bodyPr/>
        <a:lstStyle/>
        <a:p>
          <a:r>
            <a:rPr lang="en-US" dirty="0"/>
            <a:t>States with higher case counts are highlighted in darker shades, indicating the severity of the pandemic's impact in those regions.</a:t>
          </a:r>
        </a:p>
      </dgm:t>
    </dgm:pt>
    <dgm:pt modelId="{EFEF8E54-2B4F-47C0-8293-944979EB1698}" type="parTrans" cxnId="{C8B9100F-5E36-4505-975C-A39DA5236597}">
      <dgm:prSet/>
      <dgm:spPr/>
      <dgm:t>
        <a:bodyPr/>
        <a:lstStyle/>
        <a:p>
          <a:endParaRPr lang="en-US"/>
        </a:p>
      </dgm:t>
    </dgm:pt>
    <dgm:pt modelId="{A845F311-0CB3-41D8-BCD3-A0231C41BBCB}" type="sibTrans" cxnId="{C8B9100F-5E36-4505-975C-A39DA5236597}">
      <dgm:prSet/>
      <dgm:spPr/>
      <dgm:t>
        <a:bodyPr/>
        <a:lstStyle/>
        <a:p>
          <a:endParaRPr lang="en-US"/>
        </a:p>
      </dgm:t>
    </dgm:pt>
    <dgm:pt modelId="{22106188-6239-43C5-9615-F9D08BD848B4}">
      <dgm:prSet/>
      <dgm:spPr/>
      <dgm:t>
        <a:bodyPr/>
        <a:lstStyle/>
        <a:p>
          <a:r>
            <a:rPr lang="en-US" dirty="0"/>
            <a:t>The distribution of cases can help us understand which states were most affected and may correlate with healthcare infrastructure, population density, and pandemic response measures.</a:t>
          </a:r>
          <a:br>
            <a:rPr lang="en-US" dirty="0"/>
          </a:br>
          <a:endParaRPr lang="en-US" dirty="0"/>
        </a:p>
      </dgm:t>
    </dgm:pt>
    <dgm:pt modelId="{0D153452-292F-4DF4-ADE3-97C2EB805D67}" type="parTrans" cxnId="{5717330E-D64F-4872-A4B8-9D2F808F50C1}">
      <dgm:prSet/>
      <dgm:spPr/>
      <dgm:t>
        <a:bodyPr/>
        <a:lstStyle/>
        <a:p>
          <a:endParaRPr lang="en-US"/>
        </a:p>
      </dgm:t>
    </dgm:pt>
    <dgm:pt modelId="{3796DD1C-29F5-4E92-B210-98D89ACFDA60}" type="sibTrans" cxnId="{5717330E-D64F-4872-A4B8-9D2F808F50C1}">
      <dgm:prSet/>
      <dgm:spPr/>
      <dgm:t>
        <a:bodyPr/>
        <a:lstStyle/>
        <a:p>
          <a:endParaRPr lang="en-US"/>
        </a:p>
      </dgm:t>
    </dgm:pt>
    <dgm:pt modelId="{3C9161AF-A6A9-47E8-9510-CCAD285DCC0B}" type="pres">
      <dgm:prSet presAssocID="{BCF2F610-5F6F-4CB9-A015-F611DFDE8DFF}" presName="linear" presStyleCnt="0">
        <dgm:presLayoutVars>
          <dgm:animLvl val="lvl"/>
          <dgm:resizeHandles val="exact"/>
        </dgm:presLayoutVars>
      </dgm:prSet>
      <dgm:spPr/>
    </dgm:pt>
    <dgm:pt modelId="{056AD9F2-AB4D-4531-B27A-7C929E2568C1}" type="pres">
      <dgm:prSet presAssocID="{BAD9D520-BBDD-4A52-ADBB-B49657DA2859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8A8452CB-0DBD-4717-8EEE-4305C1A0213A}" type="pres">
      <dgm:prSet presAssocID="{BAD9D520-BBDD-4A52-ADBB-B49657DA2859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A36D1A0B-0FD2-469A-A241-336F4E978DAC}" type="presOf" srcId="{BCF2F610-5F6F-4CB9-A015-F611DFDE8DFF}" destId="{3C9161AF-A6A9-47E8-9510-CCAD285DCC0B}" srcOrd="0" destOrd="0" presId="urn:microsoft.com/office/officeart/2005/8/layout/vList2"/>
    <dgm:cxn modelId="{5717330E-D64F-4872-A4B8-9D2F808F50C1}" srcId="{BAD9D520-BBDD-4A52-ADBB-B49657DA2859}" destId="{22106188-6239-43C5-9615-F9D08BD848B4}" srcOrd="2" destOrd="0" parTransId="{0D153452-292F-4DF4-ADE3-97C2EB805D67}" sibTransId="{3796DD1C-29F5-4E92-B210-98D89ACFDA60}"/>
    <dgm:cxn modelId="{C8B9100F-5E36-4505-975C-A39DA5236597}" srcId="{BAD9D520-BBDD-4A52-ADBB-B49657DA2859}" destId="{76782858-4E52-49DA-99CB-4944A0934F56}" srcOrd="1" destOrd="0" parTransId="{EFEF8E54-2B4F-47C0-8293-944979EB1698}" sibTransId="{A845F311-0CB3-41D8-BCD3-A0231C41BBCB}"/>
    <dgm:cxn modelId="{3E76D511-DC82-41F6-B91E-0743C1182D37}" type="presOf" srcId="{AFCE8F1E-FC17-4667-A980-706A4D6E3FEE}" destId="{8A8452CB-0DBD-4717-8EEE-4305C1A0213A}" srcOrd="0" destOrd="0" presId="urn:microsoft.com/office/officeart/2005/8/layout/vList2"/>
    <dgm:cxn modelId="{A087FA29-1EA7-482F-9515-5FF12D794CAE}" type="presOf" srcId="{22106188-6239-43C5-9615-F9D08BD848B4}" destId="{8A8452CB-0DBD-4717-8EEE-4305C1A0213A}" srcOrd="0" destOrd="2" presId="urn:microsoft.com/office/officeart/2005/8/layout/vList2"/>
    <dgm:cxn modelId="{5570C23A-00D5-43C1-BB08-17483BD0898C}" srcId="{BCF2F610-5F6F-4CB9-A015-F611DFDE8DFF}" destId="{BAD9D520-BBDD-4A52-ADBB-B49657DA2859}" srcOrd="0" destOrd="0" parTransId="{7AD21136-087A-4E1D-8FA4-0922DF9919CD}" sibTransId="{14DE97C9-A3C0-4F23-951C-9347C84540F2}"/>
    <dgm:cxn modelId="{70E3A8B2-823B-4F8B-A565-26BAE78BA661}" type="presOf" srcId="{76782858-4E52-49DA-99CB-4944A0934F56}" destId="{8A8452CB-0DBD-4717-8EEE-4305C1A0213A}" srcOrd="0" destOrd="1" presId="urn:microsoft.com/office/officeart/2005/8/layout/vList2"/>
    <dgm:cxn modelId="{4FC1EAC3-A923-408F-A92A-AC9573A6F814}" srcId="{BAD9D520-BBDD-4A52-ADBB-B49657DA2859}" destId="{AFCE8F1E-FC17-4667-A980-706A4D6E3FEE}" srcOrd="0" destOrd="0" parTransId="{96897285-A128-4B18-B5F2-9D8B8EE21F41}" sibTransId="{296BE703-BB7B-40DE-B80B-5480FCD58143}"/>
    <dgm:cxn modelId="{44353BD0-299A-4871-BCA5-3A94789F0202}" type="presOf" srcId="{BAD9D520-BBDD-4A52-ADBB-B49657DA2859}" destId="{056AD9F2-AB4D-4531-B27A-7C929E2568C1}" srcOrd="0" destOrd="0" presId="urn:microsoft.com/office/officeart/2005/8/layout/vList2"/>
    <dgm:cxn modelId="{2BED87E3-0878-46F9-8B2B-DCFE182907FB}" type="presParOf" srcId="{3C9161AF-A6A9-47E8-9510-CCAD285DCC0B}" destId="{056AD9F2-AB4D-4531-B27A-7C929E2568C1}" srcOrd="0" destOrd="0" presId="urn:microsoft.com/office/officeart/2005/8/layout/vList2"/>
    <dgm:cxn modelId="{72E3F25C-3257-46D6-86FD-8F252B4F70BD}" type="presParOf" srcId="{3C9161AF-A6A9-47E8-9510-CCAD285DCC0B}" destId="{8A8452CB-0DBD-4717-8EEE-4305C1A0213A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6532C54-AC98-49C3-89AE-D49F307A9CEE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1440CF5-16A7-479D-92CC-5909CB040EF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Confirmed Cases: The graph shows a consistent rise, with a significant increase forecasted.</a:t>
          </a:r>
        </a:p>
      </dgm:t>
    </dgm:pt>
    <dgm:pt modelId="{737E41E0-441C-473C-9B97-FE8A806A10D7}" type="parTrans" cxnId="{37CC4DE9-B7E3-4A93-AA42-30CC3FD15412}">
      <dgm:prSet/>
      <dgm:spPr/>
      <dgm:t>
        <a:bodyPr/>
        <a:lstStyle/>
        <a:p>
          <a:endParaRPr lang="en-US"/>
        </a:p>
      </dgm:t>
    </dgm:pt>
    <dgm:pt modelId="{229D1491-81F2-40D9-834D-C4A321FDEA98}" type="sibTrans" cxnId="{37CC4DE9-B7E3-4A93-AA42-30CC3FD15412}">
      <dgm:prSet/>
      <dgm:spPr/>
      <dgm:t>
        <a:bodyPr/>
        <a:lstStyle/>
        <a:p>
          <a:endParaRPr lang="en-US"/>
        </a:p>
      </dgm:t>
    </dgm:pt>
    <dgm:pt modelId="{B4309651-1E7D-4844-A31B-9B5E637D1D0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Recovered Cases: The trend follows a similar upward pattern, suggesting effective recovery efforts.</a:t>
          </a:r>
        </a:p>
      </dgm:t>
    </dgm:pt>
    <dgm:pt modelId="{CD05A33B-2A3C-427B-A4E3-A1D37EF441F4}" type="parTrans" cxnId="{8C5C8BFB-6621-4D12-A495-C82712AA6FFD}">
      <dgm:prSet/>
      <dgm:spPr/>
      <dgm:t>
        <a:bodyPr/>
        <a:lstStyle/>
        <a:p>
          <a:endParaRPr lang="en-US"/>
        </a:p>
      </dgm:t>
    </dgm:pt>
    <dgm:pt modelId="{ACBAEF57-42AC-4B5E-AD00-7361EEA01067}" type="sibTrans" cxnId="{8C5C8BFB-6621-4D12-A495-C82712AA6FFD}">
      <dgm:prSet/>
      <dgm:spPr/>
      <dgm:t>
        <a:bodyPr/>
        <a:lstStyle/>
        <a:p>
          <a:endParaRPr lang="en-US"/>
        </a:p>
      </dgm:t>
    </dgm:pt>
    <dgm:pt modelId="{897D21D3-BFCC-4ECD-9527-E6729B5059A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Death Cases: The line remains relatively lower, indicating controlled fatality rates compared to other metrics.</a:t>
          </a:r>
        </a:p>
      </dgm:t>
    </dgm:pt>
    <dgm:pt modelId="{C86C5CA0-4192-4F60-9DC6-2F72412022B7}" type="parTrans" cxnId="{84F8F877-D63F-4A88-A79C-154A2A4146E5}">
      <dgm:prSet/>
      <dgm:spPr/>
      <dgm:t>
        <a:bodyPr/>
        <a:lstStyle/>
        <a:p>
          <a:endParaRPr lang="en-US"/>
        </a:p>
      </dgm:t>
    </dgm:pt>
    <dgm:pt modelId="{4EB513D4-3E2E-4839-9F3E-359CA85594E5}" type="sibTrans" cxnId="{84F8F877-D63F-4A88-A79C-154A2A4146E5}">
      <dgm:prSet/>
      <dgm:spPr/>
      <dgm:t>
        <a:bodyPr/>
        <a:lstStyle/>
        <a:p>
          <a:endParaRPr lang="en-US"/>
        </a:p>
      </dgm:t>
    </dgm:pt>
    <dgm:pt modelId="{4BC1E997-CECD-4731-94C4-1BE0834458F9}" type="pres">
      <dgm:prSet presAssocID="{66532C54-AC98-49C3-89AE-D49F307A9CEE}" presName="root" presStyleCnt="0">
        <dgm:presLayoutVars>
          <dgm:dir/>
          <dgm:resizeHandles val="exact"/>
        </dgm:presLayoutVars>
      </dgm:prSet>
      <dgm:spPr/>
    </dgm:pt>
    <dgm:pt modelId="{C9A5CA97-CA5F-4EEE-8781-4D0296B6574B}" type="pres">
      <dgm:prSet presAssocID="{B1440CF5-16A7-479D-92CC-5909CB040EFE}" presName="compNode" presStyleCnt="0"/>
      <dgm:spPr/>
    </dgm:pt>
    <dgm:pt modelId="{514BE856-B041-4B2F-85C9-F8F3A0F32CAB}" type="pres">
      <dgm:prSet presAssocID="{B1440CF5-16A7-479D-92CC-5909CB040EF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47EA0304-69BA-495A-8A51-B8055A200875}" type="pres">
      <dgm:prSet presAssocID="{B1440CF5-16A7-479D-92CC-5909CB040EFE}" presName="spaceRect" presStyleCnt="0"/>
      <dgm:spPr/>
    </dgm:pt>
    <dgm:pt modelId="{C04111FD-9FBA-4220-ADBC-4DCFABC3FF80}" type="pres">
      <dgm:prSet presAssocID="{B1440CF5-16A7-479D-92CC-5909CB040EFE}" presName="textRect" presStyleLbl="revTx" presStyleIdx="0" presStyleCnt="3">
        <dgm:presLayoutVars>
          <dgm:chMax val="1"/>
          <dgm:chPref val="1"/>
        </dgm:presLayoutVars>
      </dgm:prSet>
      <dgm:spPr/>
    </dgm:pt>
    <dgm:pt modelId="{A7BD453B-70EB-4D41-8B23-9BB46E2ABD6A}" type="pres">
      <dgm:prSet presAssocID="{229D1491-81F2-40D9-834D-C4A321FDEA98}" presName="sibTrans" presStyleCnt="0"/>
      <dgm:spPr/>
    </dgm:pt>
    <dgm:pt modelId="{52A6CBB8-7B62-4CED-8A38-32A27BB8D3FB}" type="pres">
      <dgm:prSet presAssocID="{B4309651-1E7D-4844-A31B-9B5E637D1D08}" presName="compNode" presStyleCnt="0"/>
      <dgm:spPr/>
    </dgm:pt>
    <dgm:pt modelId="{E5466BC2-4C5A-447B-9EA3-5F55C0C1FC9D}" type="pres">
      <dgm:prSet presAssocID="{B4309651-1E7D-4844-A31B-9B5E637D1D0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Graph with Upward Trend"/>
        </a:ext>
      </dgm:extLst>
    </dgm:pt>
    <dgm:pt modelId="{357C9AFE-039A-453E-A74E-17394E406E93}" type="pres">
      <dgm:prSet presAssocID="{B4309651-1E7D-4844-A31B-9B5E637D1D08}" presName="spaceRect" presStyleCnt="0"/>
      <dgm:spPr/>
    </dgm:pt>
    <dgm:pt modelId="{70C78A84-C01B-4453-A12F-1F07300B152D}" type="pres">
      <dgm:prSet presAssocID="{B4309651-1E7D-4844-A31B-9B5E637D1D08}" presName="textRect" presStyleLbl="revTx" presStyleIdx="1" presStyleCnt="3">
        <dgm:presLayoutVars>
          <dgm:chMax val="1"/>
          <dgm:chPref val="1"/>
        </dgm:presLayoutVars>
      </dgm:prSet>
      <dgm:spPr/>
    </dgm:pt>
    <dgm:pt modelId="{ACB302DF-3491-4AFA-B0A4-CA5789B6F5A2}" type="pres">
      <dgm:prSet presAssocID="{ACBAEF57-42AC-4B5E-AD00-7361EEA01067}" presName="sibTrans" presStyleCnt="0"/>
      <dgm:spPr/>
    </dgm:pt>
    <dgm:pt modelId="{C0C75F48-756D-4E62-867C-1F10466745DB}" type="pres">
      <dgm:prSet presAssocID="{897D21D3-BFCC-4ECD-9527-E6729B5059A0}" presName="compNode" presStyleCnt="0"/>
      <dgm:spPr/>
    </dgm:pt>
    <dgm:pt modelId="{83BE32D7-EB4A-4A6D-A5F0-B92746062749}" type="pres">
      <dgm:prSet presAssocID="{897D21D3-BFCC-4ECD-9527-E6729B5059A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rt with Pulse"/>
        </a:ext>
      </dgm:extLst>
    </dgm:pt>
    <dgm:pt modelId="{7489FB9A-8905-4E0F-B9C6-CB3418B5FDBE}" type="pres">
      <dgm:prSet presAssocID="{897D21D3-BFCC-4ECD-9527-E6729B5059A0}" presName="spaceRect" presStyleCnt="0"/>
      <dgm:spPr/>
    </dgm:pt>
    <dgm:pt modelId="{84583963-3858-4629-A648-768D7EFC5ADD}" type="pres">
      <dgm:prSet presAssocID="{897D21D3-BFCC-4ECD-9527-E6729B5059A0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D510CB07-6593-46AD-94C6-925DD137EBE2}" type="presOf" srcId="{897D21D3-BFCC-4ECD-9527-E6729B5059A0}" destId="{84583963-3858-4629-A648-768D7EFC5ADD}" srcOrd="0" destOrd="0" presId="urn:microsoft.com/office/officeart/2018/2/layout/IconLabelList"/>
    <dgm:cxn modelId="{84F8F877-D63F-4A88-A79C-154A2A4146E5}" srcId="{66532C54-AC98-49C3-89AE-D49F307A9CEE}" destId="{897D21D3-BFCC-4ECD-9527-E6729B5059A0}" srcOrd="2" destOrd="0" parTransId="{C86C5CA0-4192-4F60-9DC6-2F72412022B7}" sibTransId="{4EB513D4-3E2E-4839-9F3E-359CA85594E5}"/>
    <dgm:cxn modelId="{640A118B-E89C-45B9-A577-CD033C03E067}" type="presOf" srcId="{B1440CF5-16A7-479D-92CC-5909CB040EFE}" destId="{C04111FD-9FBA-4220-ADBC-4DCFABC3FF80}" srcOrd="0" destOrd="0" presId="urn:microsoft.com/office/officeart/2018/2/layout/IconLabelList"/>
    <dgm:cxn modelId="{A597A1B8-5C37-496F-96C2-E00ED76B2B03}" type="presOf" srcId="{B4309651-1E7D-4844-A31B-9B5E637D1D08}" destId="{70C78A84-C01B-4453-A12F-1F07300B152D}" srcOrd="0" destOrd="0" presId="urn:microsoft.com/office/officeart/2018/2/layout/IconLabelList"/>
    <dgm:cxn modelId="{EA4280CF-A6C7-45C9-9275-FD7C36DB9471}" type="presOf" srcId="{66532C54-AC98-49C3-89AE-D49F307A9CEE}" destId="{4BC1E997-CECD-4731-94C4-1BE0834458F9}" srcOrd="0" destOrd="0" presId="urn:microsoft.com/office/officeart/2018/2/layout/IconLabelList"/>
    <dgm:cxn modelId="{37CC4DE9-B7E3-4A93-AA42-30CC3FD15412}" srcId="{66532C54-AC98-49C3-89AE-D49F307A9CEE}" destId="{B1440CF5-16A7-479D-92CC-5909CB040EFE}" srcOrd="0" destOrd="0" parTransId="{737E41E0-441C-473C-9B97-FE8A806A10D7}" sibTransId="{229D1491-81F2-40D9-834D-C4A321FDEA98}"/>
    <dgm:cxn modelId="{8C5C8BFB-6621-4D12-A495-C82712AA6FFD}" srcId="{66532C54-AC98-49C3-89AE-D49F307A9CEE}" destId="{B4309651-1E7D-4844-A31B-9B5E637D1D08}" srcOrd="1" destOrd="0" parTransId="{CD05A33B-2A3C-427B-A4E3-A1D37EF441F4}" sibTransId="{ACBAEF57-42AC-4B5E-AD00-7361EEA01067}"/>
    <dgm:cxn modelId="{BFD1A92D-DF12-47FE-8E60-67B03BCA613B}" type="presParOf" srcId="{4BC1E997-CECD-4731-94C4-1BE0834458F9}" destId="{C9A5CA97-CA5F-4EEE-8781-4D0296B6574B}" srcOrd="0" destOrd="0" presId="urn:microsoft.com/office/officeart/2018/2/layout/IconLabelList"/>
    <dgm:cxn modelId="{506644F5-10FB-4E0A-9386-9342F8013D20}" type="presParOf" srcId="{C9A5CA97-CA5F-4EEE-8781-4D0296B6574B}" destId="{514BE856-B041-4B2F-85C9-F8F3A0F32CAB}" srcOrd="0" destOrd="0" presId="urn:microsoft.com/office/officeart/2018/2/layout/IconLabelList"/>
    <dgm:cxn modelId="{FA9B5CF8-A566-4BD1-A8BD-3E23FB804C03}" type="presParOf" srcId="{C9A5CA97-CA5F-4EEE-8781-4D0296B6574B}" destId="{47EA0304-69BA-495A-8A51-B8055A200875}" srcOrd="1" destOrd="0" presId="urn:microsoft.com/office/officeart/2018/2/layout/IconLabelList"/>
    <dgm:cxn modelId="{9029291C-F6A9-420A-BCD2-EB65F22C66B0}" type="presParOf" srcId="{C9A5CA97-CA5F-4EEE-8781-4D0296B6574B}" destId="{C04111FD-9FBA-4220-ADBC-4DCFABC3FF80}" srcOrd="2" destOrd="0" presId="urn:microsoft.com/office/officeart/2018/2/layout/IconLabelList"/>
    <dgm:cxn modelId="{E9804DDF-5BF7-41D7-ACA3-5A5C3644BFF7}" type="presParOf" srcId="{4BC1E997-CECD-4731-94C4-1BE0834458F9}" destId="{A7BD453B-70EB-4D41-8B23-9BB46E2ABD6A}" srcOrd="1" destOrd="0" presId="urn:microsoft.com/office/officeart/2018/2/layout/IconLabelList"/>
    <dgm:cxn modelId="{9C2FD58F-A42B-42F7-88F7-615C5CE79AD7}" type="presParOf" srcId="{4BC1E997-CECD-4731-94C4-1BE0834458F9}" destId="{52A6CBB8-7B62-4CED-8A38-32A27BB8D3FB}" srcOrd="2" destOrd="0" presId="urn:microsoft.com/office/officeart/2018/2/layout/IconLabelList"/>
    <dgm:cxn modelId="{42314C1B-24B8-4C92-8A97-903CD3BBCAC5}" type="presParOf" srcId="{52A6CBB8-7B62-4CED-8A38-32A27BB8D3FB}" destId="{E5466BC2-4C5A-447B-9EA3-5F55C0C1FC9D}" srcOrd="0" destOrd="0" presId="urn:microsoft.com/office/officeart/2018/2/layout/IconLabelList"/>
    <dgm:cxn modelId="{95A2EF7D-52E9-4766-AC21-A23D88FBBDBA}" type="presParOf" srcId="{52A6CBB8-7B62-4CED-8A38-32A27BB8D3FB}" destId="{357C9AFE-039A-453E-A74E-17394E406E93}" srcOrd="1" destOrd="0" presId="urn:microsoft.com/office/officeart/2018/2/layout/IconLabelList"/>
    <dgm:cxn modelId="{A1B4250A-B0C1-4FAF-BC03-E7888E435B71}" type="presParOf" srcId="{52A6CBB8-7B62-4CED-8A38-32A27BB8D3FB}" destId="{70C78A84-C01B-4453-A12F-1F07300B152D}" srcOrd="2" destOrd="0" presId="urn:microsoft.com/office/officeart/2018/2/layout/IconLabelList"/>
    <dgm:cxn modelId="{B4E4B411-768F-4FE3-AB00-90FF72C8751D}" type="presParOf" srcId="{4BC1E997-CECD-4731-94C4-1BE0834458F9}" destId="{ACB302DF-3491-4AFA-B0A4-CA5789B6F5A2}" srcOrd="3" destOrd="0" presId="urn:microsoft.com/office/officeart/2018/2/layout/IconLabelList"/>
    <dgm:cxn modelId="{B3182B2F-57B7-427A-ADEA-82C4E14B1B78}" type="presParOf" srcId="{4BC1E997-CECD-4731-94C4-1BE0834458F9}" destId="{C0C75F48-756D-4E62-867C-1F10466745DB}" srcOrd="4" destOrd="0" presId="urn:microsoft.com/office/officeart/2018/2/layout/IconLabelList"/>
    <dgm:cxn modelId="{ACD7E13A-AC08-46F5-97BD-E2521A9D3555}" type="presParOf" srcId="{C0C75F48-756D-4E62-867C-1F10466745DB}" destId="{83BE32D7-EB4A-4A6D-A5F0-B92746062749}" srcOrd="0" destOrd="0" presId="urn:microsoft.com/office/officeart/2018/2/layout/IconLabelList"/>
    <dgm:cxn modelId="{1F2339D8-3A1F-4ECB-9412-605E98AC236D}" type="presParOf" srcId="{C0C75F48-756D-4E62-867C-1F10466745DB}" destId="{7489FB9A-8905-4E0F-B9C6-CB3418B5FDBE}" srcOrd="1" destOrd="0" presId="urn:microsoft.com/office/officeart/2018/2/layout/IconLabelList"/>
    <dgm:cxn modelId="{B8ED2959-9E8D-4A9B-9778-2BDB655EC755}" type="presParOf" srcId="{C0C75F48-756D-4E62-867C-1F10466745DB}" destId="{84583963-3858-4629-A648-768D7EFC5AD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6AD9F2-AB4D-4531-B27A-7C929E2568C1}">
      <dsp:nvSpPr>
        <dsp:cNvPr id="0" name=""/>
        <dsp:cNvSpPr/>
      </dsp:nvSpPr>
      <dsp:spPr>
        <a:xfrm>
          <a:off x="0" y="331202"/>
          <a:ext cx="4459287" cy="79794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dirty="0"/>
            <a:t>Geographical Distribution of COVID-19 Cases </a:t>
          </a:r>
          <a:endParaRPr lang="en-US" sz="2200" kern="1200" dirty="0"/>
        </a:p>
      </dsp:txBody>
      <dsp:txXfrm>
        <a:off x="38952" y="370154"/>
        <a:ext cx="4381383" cy="720036"/>
      </dsp:txXfrm>
    </dsp:sp>
    <dsp:sp modelId="{8A8452CB-0DBD-4717-8EEE-4305C1A0213A}">
      <dsp:nvSpPr>
        <dsp:cNvPr id="0" name=""/>
        <dsp:cNvSpPr/>
      </dsp:nvSpPr>
      <dsp:spPr>
        <a:xfrm>
          <a:off x="0" y="1129143"/>
          <a:ext cx="4459287" cy="25047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1582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 dirty="0"/>
            <a:t>This map shows the total number of cases caused by COVID-19 across Indian states.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 dirty="0"/>
            <a:t>States with higher case counts are highlighted in darker shades, indicating the severity of the pandemic's impact in those regions.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 dirty="0"/>
            <a:t>The distribution of cases can help us understand which states were most affected and may correlate with healthcare infrastructure, population density, and pandemic response measures.</a:t>
          </a:r>
          <a:br>
            <a:rPr lang="en-US" sz="1700" kern="1200" dirty="0"/>
          </a:br>
          <a:endParaRPr lang="en-US" sz="1700" kern="1200" dirty="0"/>
        </a:p>
      </dsp:txBody>
      <dsp:txXfrm>
        <a:off x="0" y="1129143"/>
        <a:ext cx="4459287" cy="25047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4BE856-B041-4B2F-85C9-F8F3A0F32CAB}">
      <dsp:nvSpPr>
        <dsp:cNvPr id="0" name=""/>
        <dsp:cNvSpPr/>
      </dsp:nvSpPr>
      <dsp:spPr>
        <a:xfrm>
          <a:off x="853993" y="663015"/>
          <a:ext cx="1238191" cy="123819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4111FD-9FBA-4220-ADBC-4DCFABC3FF80}">
      <dsp:nvSpPr>
        <dsp:cNvPr id="0" name=""/>
        <dsp:cNvSpPr/>
      </dsp:nvSpPr>
      <dsp:spPr>
        <a:xfrm>
          <a:off x="97321" y="2246821"/>
          <a:ext cx="275153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Confirmed Cases: The graph shows a consistent rise, with a significant increase forecasted.</a:t>
          </a:r>
        </a:p>
      </dsp:txBody>
      <dsp:txXfrm>
        <a:off x="97321" y="2246821"/>
        <a:ext cx="2751535" cy="720000"/>
      </dsp:txXfrm>
    </dsp:sp>
    <dsp:sp modelId="{E5466BC2-4C5A-447B-9EA3-5F55C0C1FC9D}">
      <dsp:nvSpPr>
        <dsp:cNvPr id="0" name=""/>
        <dsp:cNvSpPr/>
      </dsp:nvSpPr>
      <dsp:spPr>
        <a:xfrm>
          <a:off x="4087048" y="663015"/>
          <a:ext cx="1238191" cy="123819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C78A84-C01B-4453-A12F-1F07300B152D}">
      <dsp:nvSpPr>
        <dsp:cNvPr id="0" name=""/>
        <dsp:cNvSpPr/>
      </dsp:nvSpPr>
      <dsp:spPr>
        <a:xfrm>
          <a:off x="3330375" y="2246821"/>
          <a:ext cx="275153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Recovered Cases: The trend follows a similar upward pattern, suggesting effective recovery efforts.</a:t>
          </a:r>
        </a:p>
      </dsp:txBody>
      <dsp:txXfrm>
        <a:off x="3330375" y="2246821"/>
        <a:ext cx="2751535" cy="720000"/>
      </dsp:txXfrm>
    </dsp:sp>
    <dsp:sp modelId="{83BE32D7-EB4A-4A6D-A5F0-B92746062749}">
      <dsp:nvSpPr>
        <dsp:cNvPr id="0" name=""/>
        <dsp:cNvSpPr/>
      </dsp:nvSpPr>
      <dsp:spPr>
        <a:xfrm>
          <a:off x="7320103" y="663015"/>
          <a:ext cx="1238191" cy="123819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583963-3858-4629-A648-768D7EFC5ADD}">
      <dsp:nvSpPr>
        <dsp:cNvPr id="0" name=""/>
        <dsp:cNvSpPr/>
      </dsp:nvSpPr>
      <dsp:spPr>
        <a:xfrm>
          <a:off x="6563430" y="2246821"/>
          <a:ext cx="275153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Death Cases: The line remains relatively lower, indicating controlled fatality rates compared to other metrics.</a:t>
          </a:r>
        </a:p>
      </dsp:txBody>
      <dsp:txXfrm>
        <a:off x="6563430" y="2246821"/>
        <a:ext cx="2751535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32A2767-FEC0-45D8-A250-3A0CECEC10E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D87BEA-720A-4B01-983C-6493C00177B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438802-F28A-42D1-9BCA-40E34B52D6F0}" type="datetimeFigureOut">
              <a:rPr lang="en-US" smtClean="0"/>
              <a:t>10/29/2024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7F7142-7B6D-4E82-A762-17951F13958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AA5D6A-4E5C-4EA7-A13B-15A02BB533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8A98BC-2DB8-47A3-A77F-B9E32C26623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6843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65794D-BDB5-4811-AA4A-B25E4EF28521}" type="datetimeFigureOut">
              <a:rPr lang="en-US" smtClean="0"/>
              <a:t>10/29/2024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BB1A04-13E8-48CD-97F9-AC2568E1A8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69996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BB1A04-13E8-48CD-97F9-AC2568E1A8D4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43052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 cstate="email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10/29/2024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8416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7360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2801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4335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593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6122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950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1360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9866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196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72563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022410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73892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22440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45445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06166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0474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 cstate="email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10/29/2024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18522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5.jpg"/><Relationship Id="rId9" Type="http://schemas.microsoft.com/office/2007/relationships/diagramDrawing" Target="../diagrams/drawing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9.png"/><Relationship Id="rId7" Type="http://schemas.openxmlformats.org/officeDocument/2006/relationships/diagramColors" Target="../diagrams/colors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" name="Group 175">
            <a:extLst>
              <a:ext uri="{FF2B5EF4-FFF2-40B4-BE49-F238E27FC236}">
                <a16:creationId xmlns:a16="http://schemas.microsoft.com/office/drawing/2014/main" id="{1351B104-9B78-4A2B-B970-FA8ABE1CE1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177" name="Rectangle 176">
              <a:extLst>
                <a:ext uri="{FF2B5EF4-FFF2-40B4-BE49-F238E27FC236}">
                  <a16:creationId xmlns:a16="http://schemas.microsoft.com/office/drawing/2014/main" id="{3A130E84-D02F-40FB-9BEB-5202392713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78" name="Picture 2">
              <a:extLst>
                <a:ext uri="{FF2B5EF4-FFF2-40B4-BE49-F238E27FC236}">
                  <a16:creationId xmlns:a16="http://schemas.microsoft.com/office/drawing/2014/main" id="{5E142BFD-7D75-4518-BBDF-27C00AB4BC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4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p14="http://schemas.microsoft.com/office/powerpoint/2010/main" xmlns:a14="http://schemas.microsoft.com/office/drawing/2010/main" xmlns:a16="http://schemas.microsoft.com/office/drawing/2014/main" xmlns="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D687081-16D7-4BC5-A7DB-E70117439F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15112" y="1122363"/>
            <a:ext cx="4052887" cy="2387600"/>
          </a:xfrm>
        </p:spPr>
        <p:txBody>
          <a:bodyPr>
            <a:normAutofit/>
          </a:bodyPr>
          <a:lstStyle/>
          <a:p>
            <a:r>
              <a:rPr lang="en-US" sz="4100"/>
              <a:t>India Pandemic Tracker: COVID-19 Analytics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41851F-203A-4F8E-AA75-478526ABA8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5702" y="3602038"/>
            <a:ext cx="4082297" cy="165576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RA2211026010313 – Pratyush Rai </a:t>
            </a:r>
          </a:p>
          <a:p>
            <a:r>
              <a:rPr lang="en-US" dirty="0"/>
              <a:t>RA2211026010319- Aryan Singh </a:t>
            </a:r>
          </a:p>
          <a:p>
            <a:r>
              <a:rPr lang="en-US" dirty="0"/>
              <a:t>RA2211026010360- </a:t>
            </a:r>
            <a:r>
              <a:rPr lang="en-US" dirty="0" err="1"/>
              <a:t>Neelansh</a:t>
            </a:r>
            <a:r>
              <a:rPr lang="en-US" dirty="0"/>
              <a:t> </a:t>
            </a:r>
            <a:r>
              <a:rPr lang="en-US" dirty="0" err="1"/>
              <a:t>bhargava</a:t>
            </a:r>
            <a:endParaRPr lang="en-US" dirty="0"/>
          </a:p>
        </p:txBody>
      </p:sp>
      <p:pic>
        <p:nvPicPr>
          <p:cNvPr id="4" name="Picture 3" descr="A close-up of a virus&#10;&#10;Description automatically generated">
            <a:extLst>
              <a:ext uri="{FF2B5EF4-FFF2-40B4-BE49-F238E27FC236}">
                <a16:creationId xmlns:a16="http://schemas.microsoft.com/office/drawing/2014/main" id="{C6A07453-7004-03C9-DDCA-ADBEA085342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1194" r="17194"/>
          <a:stretch/>
        </p:blipFill>
        <p:spPr>
          <a:xfrm>
            <a:off x="-5597" y="10"/>
            <a:ext cx="6101597" cy="6857990"/>
          </a:xfrm>
          <a:prstGeom prst="rect">
            <a:avLst/>
          </a:prstGeom>
          <a:noFill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grpSp>
        <p:nvGrpSpPr>
          <p:cNvPr id="180" name="Group 179">
            <a:extLst>
              <a:ext uri="{FF2B5EF4-FFF2-40B4-BE49-F238E27FC236}">
                <a16:creationId xmlns:a16="http://schemas.microsoft.com/office/drawing/2014/main" id="{D4116A08-770E-4DC3-AAB6-E3E8E6CEC8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solidFill>
            <a:schemeClr val="tx1">
              <a:alpha val="70000"/>
            </a:schemeClr>
          </a:solidFill>
          <a:effectLst/>
        </p:grpSpPr>
        <p:sp>
          <p:nvSpPr>
            <p:cNvPr id="181" name="Rectangle 5">
              <a:extLst>
                <a:ext uri="{FF2B5EF4-FFF2-40B4-BE49-F238E27FC236}">
                  <a16:creationId xmlns:a16="http://schemas.microsoft.com/office/drawing/2014/main" id="{6ADECFB2-F615-49A9-A242-A3D04CADB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2" name="Freeform 6">
              <a:extLst>
                <a:ext uri="{FF2B5EF4-FFF2-40B4-BE49-F238E27FC236}">
                  <a16:creationId xmlns:a16="http://schemas.microsoft.com/office/drawing/2014/main" id="{8E1F3AC6-5FF1-401B-91E4-180D1D3560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3" name="Freeform 7">
              <a:extLst>
                <a:ext uri="{FF2B5EF4-FFF2-40B4-BE49-F238E27FC236}">
                  <a16:creationId xmlns:a16="http://schemas.microsoft.com/office/drawing/2014/main" id="{72BC7A9D-387B-4877-B8E6-E8ABA6B265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4" name="Rectangle 8">
              <a:extLst>
                <a:ext uri="{FF2B5EF4-FFF2-40B4-BE49-F238E27FC236}">
                  <a16:creationId xmlns:a16="http://schemas.microsoft.com/office/drawing/2014/main" id="{9114560A-27D6-469D-992E-33A55B40BA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5" name="Freeform 9">
              <a:extLst>
                <a:ext uri="{FF2B5EF4-FFF2-40B4-BE49-F238E27FC236}">
                  <a16:creationId xmlns:a16="http://schemas.microsoft.com/office/drawing/2014/main" id="{CBF136EF-7DC2-47D2-974C-70044B5E90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6" name="Freeform 10">
              <a:extLst>
                <a:ext uri="{FF2B5EF4-FFF2-40B4-BE49-F238E27FC236}">
                  <a16:creationId xmlns:a16="http://schemas.microsoft.com/office/drawing/2014/main" id="{6B03084D-F566-41C4-BE37-870FB5A0D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7" name="Freeform 11">
              <a:extLst>
                <a:ext uri="{FF2B5EF4-FFF2-40B4-BE49-F238E27FC236}">
                  <a16:creationId xmlns:a16="http://schemas.microsoft.com/office/drawing/2014/main" id="{049DC21B-8236-4901-9ADD-E3167ABDE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8" name="Freeform 12">
              <a:extLst>
                <a:ext uri="{FF2B5EF4-FFF2-40B4-BE49-F238E27FC236}">
                  <a16:creationId xmlns:a16="http://schemas.microsoft.com/office/drawing/2014/main" id="{304F4FEB-8B5B-45BA-988C-5FBF41059E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9" name="Freeform 13">
              <a:extLst>
                <a:ext uri="{FF2B5EF4-FFF2-40B4-BE49-F238E27FC236}">
                  <a16:creationId xmlns:a16="http://schemas.microsoft.com/office/drawing/2014/main" id="{E88E24C8-3D76-4C2F-84D1-BC3C2AACA4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90" name="Freeform 14">
              <a:extLst>
                <a:ext uri="{FF2B5EF4-FFF2-40B4-BE49-F238E27FC236}">
                  <a16:creationId xmlns:a16="http://schemas.microsoft.com/office/drawing/2014/main" id="{91C91468-4F8A-42F1-9505-02D9241787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91" name="Freeform 15">
              <a:extLst>
                <a:ext uri="{FF2B5EF4-FFF2-40B4-BE49-F238E27FC236}">
                  <a16:creationId xmlns:a16="http://schemas.microsoft.com/office/drawing/2014/main" id="{C22581B1-C426-4189-85D6-C499D6982F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92" name="Freeform 16">
              <a:extLst>
                <a:ext uri="{FF2B5EF4-FFF2-40B4-BE49-F238E27FC236}">
                  <a16:creationId xmlns:a16="http://schemas.microsoft.com/office/drawing/2014/main" id="{29DFD4C4-0517-4A6B-B423-E55582618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93" name="Freeform 17">
              <a:extLst>
                <a:ext uri="{FF2B5EF4-FFF2-40B4-BE49-F238E27FC236}">
                  <a16:creationId xmlns:a16="http://schemas.microsoft.com/office/drawing/2014/main" id="{7ACD84D3-D09D-4C94-99D5-51713A1D6B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94" name="Freeform 18">
              <a:extLst>
                <a:ext uri="{FF2B5EF4-FFF2-40B4-BE49-F238E27FC236}">
                  <a16:creationId xmlns:a16="http://schemas.microsoft.com/office/drawing/2014/main" id="{37C2AEAB-1CC9-4A9A-8303-E1E0C12168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95" name="Freeform 19">
              <a:extLst>
                <a:ext uri="{FF2B5EF4-FFF2-40B4-BE49-F238E27FC236}">
                  <a16:creationId xmlns:a16="http://schemas.microsoft.com/office/drawing/2014/main" id="{20ABD348-58FE-4371-AE12-C66FF8CAC3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96" name="Freeform 20">
              <a:extLst>
                <a:ext uri="{FF2B5EF4-FFF2-40B4-BE49-F238E27FC236}">
                  <a16:creationId xmlns:a16="http://schemas.microsoft.com/office/drawing/2014/main" id="{408E0FAA-F0C5-4CB1-95FE-D3D96830F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97" name="Freeform 21">
              <a:extLst>
                <a:ext uri="{FF2B5EF4-FFF2-40B4-BE49-F238E27FC236}">
                  <a16:creationId xmlns:a16="http://schemas.microsoft.com/office/drawing/2014/main" id="{F83C789F-2881-4822-A724-567720953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98" name="Freeform 22">
              <a:extLst>
                <a:ext uri="{FF2B5EF4-FFF2-40B4-BE49-F238E27FC236}">
                  <a16:creationId xmlns:a16="http://schemas.microsoft.com/office/drawing/2014/main" id="{6B039120-5C84-4A03-9ADD-32EA6E5D44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99" name="Freeform 23">
              <a:extLst>
                <a:ext uri="{FF2B5EF4-FFF2-40B4-BE49-F238E27FC236}">
                  <a16:creationId xmlns:a16="http://schemas.microsoft.com/office/drawing/2014/main" id="{440E956F-26EB-40C6-B500-1A4BB4ABF7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0" name="Freeform 24">
              <a:extLst>
                <a:ext uri="{FF2B5EF4-FFF2-40B4-BE49-F238E27FC236}">
                  <a16:creationId xmlns:a16="http://schemas.microsoft.com/office/drawing/2014/main" id="{D2449A75-05DC-4791-90F1-335CC6732C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1" name="Freeform 25">
              <a:extLst>
                <a:ext uri="{FF2B5EF4-FFF2-40B4-BE49-F238E27FC236}">
                  <a16:creationId xmlns:a16="http://schemas.microsoft.com/office/drawing/2014/main" id="{2A0F57CD-8F34-4F1D-BFF3-1293522501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2" name="Freeform 26">
              <a:extLst>
                <a:ext uri="{FF2B5EF4-FFF2-40B4-BE49-F238E27FC236}">
                  <a16:creationId xmlns:a16="http://schemas.microsoft.com/office/drawing/2014/main" id="{DB0DDCCE-FA18-4790-8F10-67FC66172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3" name="Freeform 27">
              <a:extLst>
                <a:ext uri="{FF2B5EF4-FFF2-40B4-BE49-F238E27FC236}">
                  <a16:creationId xmlns:a16="http://schemas.microsoft.com/office/drawing/2014/main" id="{750A8178-D049-42D4-BA77-A262FE55F9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4" name="Freeform 28">
              <a:extLst>
                <a:ext uri="{FF2B5EF4-FFF2-40B4-BE49-F238E27FC236}">
                  <a16:creationId xmlns:a16="http://schemas.microsoft.com/office/drawing/2014/main" id="{B33B9383-8846-404B-85BE-E43F077379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5" name="Freeform 29">
              <a:extLst>
                <a:ext uri="{FF2B5EF4-FFF2-40B4-BE49-F238E27FC236}">
                  <a16:creationId xmlns:a16="http://schemas.microsoft.com/office/drawing/2014/main" id="{79468103-A660-495B-BFDF-8E7D98A09A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6" name="Freeform 30">
              <a:extLst>
                <a:ext uri="{FF2B5EF4-FFF2-40B4-BE49-F238E27FC236}">
                  <a16:creationId xmlns:a16="http://schemas.microsoft.com/office/drawing/2014/main" id="{06F4CC44-94E1-47AF-893C-19C4A4AB4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7" name="Freeform 31">
              <a:extLst>
                <a:ext uri="{FF2B5EF4-FFF2-40B4-BE49-F238E27FC236}">
                  <a16:creationId xmlns:a16="http://schemas.microsoft.com/office/drawing/2014/main" id="{E87F601E-2166-4FAE-AF96-2A1B17E46E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8" name="Freeform 32">
              <a:extLst>
                <a:ext uri="{FF2B5EF4-FFF2-40B4-BE49-F238E27FC236}">
                  <a16:creationId xmlns:a16="http://schemas.microsoft.com/office/drawing/2014/main" id="{DCDE2745-7AA5-416B-AC78-93C6EAE5D4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9" name="Rectangle 33">
              <a:extLst>
                <a:ext uri="{FF2B5EF4-FFF2-40B4-BE49-F238E27FC236}">
                  <a16:creationId xmlns:a16="http://schemas.microsoft.com/office/drawing/2014/main" id="{7D5F7E44-496F-4025-AFD8-7EEC67AC1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0" name="Freeform 34">
              <a:extLst>
                <a:ext uri="{FF2B5EF4-FFF2-40B4-BE49-F238E27FC236}">
                  <a16:creationId xmlns:a16="http://schemas.microsoft.com/office/drawing/2014/main" id="{FA8ED221-FD77-4CD0-A9B9-3F97E40DC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1" name="Freeform 35">
              <a:extLst>
                <a:ext uri="{FF2B5EF4-FFF2-40B4-BE49-F238E27FC236}">
                  <a16:creationId xmlns:a16="http://schemas.microsoft.com/office/drawing/2014/main" id="{94922F75-95BC-435D-B4BB-BCE65BACCE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2" name="Freeform 36">
              <a:extLst>
                <a:ext uri="{FF2B5EF4-FFF2-40B4-BE49-F238E27FC236}">
                  <a16:creationId xmlns:a16="http://schemas.microsoft.com/office/drawing/2014/main" id="{CFB94884-EF28-419D-9147-20B2C9B1A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3" name="Freeform 37">
              <a:extLst>
                <a:ext uri="{FF2B5EF4-FFF2-40B4-BE49-F238E27FC236}">
                  <a16:creationId xmlns:a16="http://schemas.microsoft.com/office/drawing/2014/main" id="{94C72871-F5AC-46D1-97EF-94E4070A70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4" name="Freeform 38">
              <a:extLst>
                <a:ext uri="{FF2B5EF4-FFF2-40B4-BE49-F238E27FC236}">
                  <a16:creationId xmlns:a16="http://schemas.microsoft.com/office/drawing/2014/main" id="{03ED1B15-6247-43B3-BEAE-DB699DE297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5" name="Freeform 39">
              <a:extLst>
                <a:ext uri="{FF2B5EF4-FFF2-40B4-BE49-F238E27FC236}">
                  <a16:creationId xmlns:a16="http://schemas.microsoft.com/office/drawing/2014/main" id="{FA3EA466-B483-4B4A-9FCB-9FFA8E538F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6" name="Freeform 40">
              <a:extLst>
                <a:ext uri="{FF2B5EF4-FFF2-40B4-BE49-F238E27FC236}">
                  <a16:creationId xmlns:a16="http://schemas.microsoft.com/office/drawing/2014/main" id="{CCE5E17C-696E-46EB-B70D-5862742169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7" name="Freeform 41">
              <a:extLst>
                <a:ext uri="{FF2B5EF4-FFF2-40B4-BE49-F238E27FC236}">
                  <a16:creationId xmlns:a16="http://schemas.microsoft.com/office/drawing/2014/main" id="{AB6022EC-6D09-4098-9A97-5A911C08CA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8" name="Freeform 42">
              <a:extLst>
                <a:ext uri="{FF2B5EF4-FFF2-40B4-BE49-F238E27FC236}">
                  <a16:creationId xmlns:a16="http://schemas.microsoft.com/office/drawing/2014/main" id="{7E18073E-1315-4400-ABD9-C34AEAFBF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9" name="Freeform 43">
              <a:extLst>
                <a:ext uri="{FF2B5EF4-FFF2-40B4-BE49-F238E27FC236}">
                  <a16:creationId xmlns:a16="http://schemas.microsoft.com/office/drawing/2014/main" id="{5510509E-411D-4F1B-BDC6-3E56668963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20" name="Freeform 44">
              <a:extLst>
                <a:ext uri="{FF2B5EF4-FFF2-40B4-BE49-F238E27FC236}">
                  <a16:creationId xmlns:a16="http://schemas.microsoft.com/office/drawing/2014/main" id="{46F1A7E1-EC01-4288-87AE-C3B6434BD0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21" name="Rectangle 45">
              <a:extLst>
                <a:ext uri="{FF2B5EF4-FFF2-40B4-BE49-F238E27FC236}">
                  <a16:creationId xmlns:a16="http://schemas.microsoft.com/office/drawing/2014/main" id="{F7BBA432-5463-415B-BA54-3AA2B92D2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22" name="Freeform 46">
              <a:extLst>
                <a:ext uri="{FF2B5EF4-FFF2-40B4-BE49-F238E27FC236}">
                  <a16:creationId xmlns:a16="http://schemas.microsoft.com/office/drawing/2014/main" id="{66E19F01-137B-4A95-9313-CE6F778066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23" name="Freeform 47">
              <a:extLst>
                <a:ext uri="{FF2B5EF4-FFF2-40B4-BE49-F238E27FC236}">
                  <a16:creationId xmlns:a16="http://schemas.microsoft.com/office/drawing/2014/main" id="{38C0AACC-51F2-424F-9988-F3B621941C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24" name="Freeform 48">
              <a:extLst>
                <a:ext uri="{FF2B5EF4-FFF2-40B4-BE49-F238E27FC236}">
                  <a16:creationId xmlns:a16="http://schemas.microsoft.com/office/drawing/2014/main" id="{7364A775-01A6-4012-88CF-58FDDBE4CB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25" name="Freeform 49">
              <a:extLst>
                <a:ext uri="{FF2B5EF4-FFF2-40B4-BE49-F238E27FC236}">
                  <a16:creationId xmlns:a16="http://schemas.microsoft.com/office/drawing/2014/main" id="{C8C770C5-535A-4F1B-81CA-FD6F32C09A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26" name="Freeform 50">
              <a:extLst>
                <a:ext uri="{FF2B5EF4-FFF2-40B4-BE49-F238E27FC236}">
                  <a16:creationId xmlns:a16="http://schemas.microsoft.com/office/drawing/2014/main" id="{55F9C3EF-BEB8-4836-8DE0-319E54496E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27" name="Freeform 51">
              <a:extLst>
                <a:ext uri="{FF2B5EF4-FFF2-40B4-BE49-F238E27FC236}">
                  <a16:creationId xmlns:a16="http://schemas.microsoft.com/office/drawing/2014/main" id="{0976D9A1-85FC-406B-8AEA-AE3C056A40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28" name="Freeform 52">
              <a:extLst>
                <a:ext uri="{FF2B5EF4-FFF2-40B4-BE49-F238E27FC236}">
                  <a16:creationId xmlns:a16="http://schemas.microsoft.com/office/drawing/2014/main" id="{68BC6126-2A3A-4F1D-A565-BEF620660A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29" name="Freeform 53">
              <a:extLst>
                <a:ext uri="{FF2B5EF4-FFF2-40B4-BE49-F238E27FC236}">
                  <a16:creationId xmlns:a16="http://schemas.microsoft.com/office/drawing/2014/main" id="{D8C7B98D-F83E-485D-B01D-270242E8FD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30" name="Freeform 54">
              <a:extLst>
                <a:ext uri="{FF2B5EF4-FFF2-40B4-BE49-F238E27FC236}">
                  <a16:creationId xmlns:a16="http://schemas.microsoft.com/office/drawing/2014/main" id="{93D5E722-D236-478A-A13F-8FA4141D94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31" name="Freeform 55">
              <a:extLst>
                <a:ext uri="{FF2B5EF4-FFF2-40B4-BE49-F238E27FC236}">
                  <a16:creationId xmlns:a16="http://schemas.microsoft.com/office/drawing/2014/main" id="{ABE1456F-F283-4BD5-A1B9-EF2423B682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32" name="Freeform 56">
              <a:extLst>
                <a:ext uri="{FF2B5EF4-FFF2-40B4-BE49-F238E27FC236}">
                  <a16:creationId xmlns:a16="http://schemas.microsoft.com/office/drawing/2014/main" id="{E4D1AC66-8164-4BBC-89D5-69FE7A4FC2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33" name="Freeform 57">
              <a:extLst>
                <a:ext uri="{FF2B5EF4-FFF2-40B4-BE49-F238E27FC236}">
                  <a16:creationId xmlns:a16="http://schemas.microsoft.com/office/drawing/2014/main" id="{845A8868-488C-447D-979F-7E01B82AC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34" name="Freeform 58">
              <a:extLst>
                <a:ext uri="{FF2B5EF4-FFF2-40B4-BE49-F238E27FC236}">
                  <a16:creationId xmlns:a16="http://schemas.microsoft.com/office/drawing/2014/main" id="{948639B9-9B88-432B-914E-6B70BAEB1D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77EB1C59-16D1-4C5E-9775-50CB40E022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64912" y="0"/>
            <a:ext cx="674688" cy="6848476"/>
            <a:chOff x="11364912" y="0"/>
            <a:chExt cx="674688" cy="6848476"/>
          </a:xfrm>
          <a:gradFill flip="none" rotWithShape="1">
            <a:gsLst>
              <a:gs pos="0">
                <a:schemeClr val="tx2">
                  <a:alpha val="80000"/>
                </a:schemeClr>
              </a:gs>
              <a:gs pos="100000">
                <a:schemeClr val="bg2">
                  <a:lumMod val="60000"/>
                  <a:lumOff val="40000"/>
                  <a:alpha val="60000"/>
                </a:schemeClr>
              </a:gs>
            </a:gsLst>
            <a:lin ang="5400000" scaled="0"/>
            <a:tileRect/>
          </a:gradFill>
        </p:grpSpPr>
        <p:sp>
          <p:nvSpPr>
            <p:cNvPr id="237" name="Freeform 32">
              <a:extLst>
                <a:ext uri="{FF2B5EF4-FFF2-40B4-BE49-F238E27FC236}">
                  <a16:creationId xmlns:a16="http://schemas.microsoft.com/office/drawing/2014/main" id="{08680D14-7FE7-4522-B5EE-76447F8339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38" name="Freeform 33">
              <a:extLst>
                <a:ext uri="{FF2B5EF4-FFF2-40B4-BE49-F238E27FC236}">
                  <a16:creationId xmlns:a16="http://schemas.microsoft.com/office/drawing/2014/main" id="{D82C01B5-EC9C-4883-B130-115321E8B3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39" name="Freeform 34">
              <a:extLst>
                <a:ext uri="{FF2B5EF4-FFF2-40B4-BE49-F238E27FC236}">
                  <a16:creationId xmlns:a16="http://schemas.microsoft.com/office/drawing/2014/main" id="{DBBE5E83-362F-4EA7-A96D-0BC830A217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0" name="Freeform 35">
              <a:extLst>
                <a:ext uri="{FF2B5EF4-FFF2-40B4-BE49-F238E27FC236}">
                  <a16:creationId xmlns:a16="http://schemas.microsoft.com/office/drawing/2014/main" id="{3971FE03-8B37-43AF-8842-8D4411C3C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1" name="Freeform 36">
              <a:extLst>
                <a:ext uri="{FF2B5EF4-FFF2-40B4-BE49-F238E27FC236}">
                  <a16:creationId xmlns:a16="http://schemas.microsoft.com/office/drawing/2014/main" id="{8E4E3D41-4CF7-4D15-854A-C4330D390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2" name="Freeform 37">
              <a:extLst>
                <a:ext uri="{FF2B5EF4-FFF2-40B4-BE49-F238E27FC236}">
                  <a16:creationId xmlns:a16="http://schemas.microsoft.com/office/drawing/2014/main" id="{78B649D7-3C5D-462D-B06A-D065135FE8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3" name="Freeform 38">
              <a:extLst>
                <a:ext uri="{FF2B5EF4-FFF2-40B4-BE49-F238E27FC236}">
                  <a16:creationId xmlns:a16="http://schemas.microsoft.com/office/drawing/2014/main" id="{7A3DDEF1-D28A-48D9-8E48-B2003DF2EE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4" name="Freeform 39">
              <a:extLst>
                <a:ext uri="{FF2B5EF4-FFF2-40B4-BE49-F238E27FC236}">
                  <a16:creationId xmlns:a16="http://schemas.microsoft.com/office/drawing/2014/main" id="{4A56A02B-D000-45AB-B7DB-E47CA8E777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5" name="Freeform 40">
              <a:extLst>
                <a:ext uri="{FF2B5EF4-FFF2-40B4-BE49-F238E27FC236}">
                  <a16:creationId xmlns:a16="http://schemas.microsoft.com/office/drawing/2014/main" id="{343CE08B-7325-4244-99EA-5E58C982DB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6" name="Rectangle 41">
              <a:extLst>
                <a:ext uri="{FF2B5EF4-FFF2-40B4-BE49-F238E27FC236}">
                  <a16:creationId xmlns:a16="http://schemas.microsoft.com/office/drawing/2014/main" id="{7F08E29E-A67F-410A-A810-7000201BFA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185875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8" name="Rectangle 107">
            <a:extLst>
              <a:ext uri="{FF2B5EF4-FFF2-40B4-BE49-F238E27FC236}">
                <a16:creationId xmlns:a16="http://schemas.microsoft.com/office/drawing/2014/main" id="{CC892AB0-7D6D-4FC9-9105-0CB427161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07353E4-FA19-40CB-8AF8-3A8E6704B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72533" y="0"/>
            <a:ext cx="598488" cy="1981201"/>
            <a:chOff x="194733" y="0"/>
            <a:chExt cx="598488" cy="1981201"/>
          </a:xfrm>
        </p:grpSpPr>
        <p:sp>
          <p:nvSpPr>
            <p:cNvPr id="109" name="Freeform 35">
              <a:extLst>
                <a:ext uri="{FF2B5EF4-FFF2-40B4-BE49-F238E27FC236}">
                  <a16:creationId xmlns:a16="http://schemas.microsoft.com/office/drawing/2014/main" id="{697D009D-8E70-460A-BE57-321BB07641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285221" y="0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0" name="Freeform 36">
              <a:extLst>
                <a:ext uri="{FF2B5EF4-FFF2-40B4-BE49-F238E27FC236}">
                  <a16:creationId xmlns:a16="http://schemas.microsoft.com/office/drawing/2014/main" id="{D0001F35-F282-403E-8D08-0D204D851F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526521" y="1141413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38">
              <a:extLst>
                <a:ext uri="{FF2B5EF4-FFF2-40B4-BE49-F238E27FC236}">
                  <a16:creationId xmlns:a16="http://schemas.microsoft.com/office/drawing/2014/main" id="{3F8A69A2-2D15-40CD-8C14-A18643ABA5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389996" y="1792288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39">
              <a:extLst>
                <a:ext uri="{FF2B5EF4-FFF2-40B4-BE49-F238E27FC236}">
                  <a16:creationId xmlns:a16="http://schemas.microsoft.com/office/drawing/2014/main" id="{B665CA2A-9D55-4786-9343-EB46672627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194733" y="0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40">
              <a:extLst>
                <a:ext uri="{FF2B5EF4-FFF2-40B4-BE49-F238E27FC236}">
                  <a16:creationId xmlns:a16="http://schemas.microsoft.com/office/drawing/2014/main" id="{CEE9BD85-96DF-4CDF-BC0F-C4E46062B3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602721" y="24288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Rectangle 41">
              <a:extLst>
                <a:ext uri="{FF2B5EF4-FFF2-40B4-BE49-F238E27FC236}">
                  <a16:creationId xmlns:a16="http://schemas.microsoft.com/office/drawing/2014/main" id="{6BB6F5E5-6CA3-4B20-86A7-1174D6E71F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693208" y="0"/>
              <a:ext cx="23813" cy="252413"/>
            </a:xfrm>
            <a:prstGeom prst="rect">
              <a:avLst/>
            </a:pr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328E69E-CE3D-4110-8BF7-AD3C0C10CB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085512" y="0"/>
            <a:ext cx="650875" cy="1730375"/>
            <a:chOff x="11347978" y="0"/>
            <a:chExt cx="650875" cy="1730375"/>
          </a:xfrm>
        </p:grpSpPr>
        <p:sp>
          <p:nvSpPr>
            <p:cNvPr id="19" name="Freeform 32">
              <a:extLst>
                <a:ext uri="{FF2B5EF4-FFF2-40B4-BE49-F238E27FC236}">
                  <a16:creationId xmlns:a16="http://schemas.microsoft.com/office/drawing/2014/main" id="{30F84C80-9E12-4460-B88F-D03839F0C8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67041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33">
              <a:extLst>
                <a:ext uri="{FF2B5EF4-FFF2-40B4-BE49-F238E27FC236}">
                  <a16:creationId xmlns:a16="http://schemas.microsoft.com/office/drawing/2014/main" id="{2F84C18C-5783-48FF-9DE0-FDA327CFC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47978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34">
              <a:extLst>
                <a:ext uri="{FF2B5EF4-FFF2-40B4-BE49-F238E27FC236}">
                  <a16:creationId xmlns:a16="http://schemas.microsoft.com/office/drawing/2014/main" id="{08C6A855-346C-4589-9AD4-5E15BCBC7A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14678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37">
              <a:extLst>
                <a:ext uri="{FF2B5EF4-FFF2-40B4-BE49-F238E27FC236}">
                  <a16:creationId xmlns:a16="http://schemas.microsoft.com/office/drawing/2014/main" id="{7E64BEE6-1157-421C-A02A-47639E4D9F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94053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64806C9-3599-45A7-BCFF-F762C54276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440267" y="5118101"/>
            <a:ext cx="650875" cy="1730375"/>
            <a:chOff x="118533" y="5118101"/>
            <a:chExt cx="650875" cy="1730375"/>
          </a:xfrm>
        </p:grpSpPr>
        <p:sp>
          <p:nvSpPr>
            <p:cNvPr id="25" name="Freeform 32">
              <a:extLst>
                <a:ext uri="{FF2B5EF4-FFF2-40B4-BE49-F238E27FC236}">
                  <a16:creationId xmlns:a16="http://schemas.microsoft.com/office/drawing/2014/main" id="{41D6E755-9558-4CAA-8F56-469D231C35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237596" y="6335713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33">
              <a:extLst>
                <a:ext uri="{FF2B5EF4-FFF2-40B4-BE49-F238E27FC236}">
                  <a16:creationId xmlns:a16="http://schemas.microsoft.com/office/drawing/2014/main" id="{8FCD41C4-606C-446C-8C81-6353C64424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118533" y="622141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34">
              <a:extLst>
                <a:ext uri="{FF2B5EF4-FFF2-40B4-BE49-F238E27FC236}">
                  <a16:creationId xmlns:a16="http://schemas.microsoft.com/office/drawing/2014/main" id="{274CFBE4-CEA6-4C81-BB1E-83E189677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385233" y="5118101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37">
              <a:extLst>
                <a:ext uri="{FF2B5EF4-FFF2-40B4-BE49-F238E27FC236}">
                  <a16:creationId xmlns:a16="http://schemas.microsoft.com/office/drawing/2014/main" id="{24813D3D-7B30-42F2-9065-1B40F140C7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464608" y="5299075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287AC97-A8E8-4B45-A50A-3057A88B40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1229445" y="4867275"/>
            <a:ext cx="598488" cy="1981201"/>
            <a:chOff x="11424178" y="4867275"/>
            <a:chExt cx="598488" cy="1981201"/>
          </a:xfrm>
        </p:grpSpPr>
        <p:sp>
          <p:nvSpPr>
            <p:cNvPr id="31" name="Freeform 35">
              <a:extLst>
                <a:ext uri="{FF2B5EF4-FFF2-40B4-BE49-F238E27FC236}">
                  <a16:creationId xmlns:a16="http://schemas.microsoft.com/office/drawing/2014/main" id="{57D70AA8-D36C-4DF9-B7D7-4E2C9BEFD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14666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36">
              <a:extLst>
                <a:ext uri="{FF2B5EF4-FFF2-40B4-BE49-F238E27FC236}">
                  <a16:creationId xmlns:a16="http://schemas.microsoft.com/office/drawing/2014/main" id="{74D88556-8C5B-41AF-9FA0-92D273470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55966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38">
              <a:extLst>
                <a:ext uri="{FF2B5EF4-FFF2-40B4-BE49-F238E27FC236}">
                  <a16:creationId xmlns:a16="http://schemas.microsoft.com/office/drawing/2014/main" id="{17E00558-8912-48C6-8202-D8A2D854B7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19441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39">
              <a:extLst>
                <a:ext uri="{FF2B5EF4-FFF2-40B4-BE49-F238E27FC236}">
                  <a16:creationId xmlns:a16="http://schemas.microsoft.com/office/drawing/2014/main" id="{7E4C092A-90EF-4870-97FC-C2D97FD2CE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24178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40">
              <a:extLst>
                <a:ext uri="{FF2B5EF4-FFF2-40B4-BE49-F238E27FC236}">
                  <a16:creationId xmlns:a16="http://schemas.microsoft.com/office/drawing/2014/main" id="{0C8C091A-4902-4B98-BB6B-AF6FA1174B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32166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Rectangle 41">
              <a:extLst>
                <a:ext uri="{FF2B5EF4-FFF2-40B4-BE49-F238E27FC236}">
                  <a16:creationId xmlns:a16="http://schemas.microsoft.com/office/drawing/2014/main" id="{50C57AA3-5B6E-4C49-9AE3-D130A25404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22653" y="6596063"/>
              <a:ext cx="23813" cy="252413"/>
            </a:xfrm>
            <a:prstGeom prst="rect">
              <a:avLst/>
            </a:pr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6D29BE04-4454-4832-B83F-10D001BFF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ound Diagonal Corner Rectangle 7">
            <a:extLst>
              <a:ext uri="{FF2B5EF4-FFF2-40B4-BE49-F238E27FC236}">
                <a16:creationId xmlns:a16="http://schemas.microsoft.com/office/drawing/2014/main" id="{98714CE9-3C2C-48E1-8B8F-CFB7735C4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2867" y="766234"/>
            <a:ext cx="10346266" cy="5325532"/>
          </a:xfrm>
          <a:prstGeom prst="round2DiagRect">
            <a:avLst>
              <a:gd name="adj1" fmla="val 4147"/>
              <a:gd name="adj2" fmla="val 0"/>
            </a:avLst>
          </a:prstGeom>
          <a:solidFill>
            <a:schemeClr val="bg2">
              <a:lumMod val="50000"/>
              <a:alpha val="80000"/>
            </a:schemeClr>
          </a:solidFill>
          <a:ln w="19050" cap="sq">
            <a:solidFill>
              <a:srgbClr val="FFFFFF">
                <a:alpha val="60000"/>
              </a:srgb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FB4D96-E9B9-8285-98B3-24D0E4700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445" y="1168078"/>
            <a:ext cx="9048219" cy="1092200"/>
          </a:xfrm>
        </p:spPr>
        <p:txBody>
          <a:bodyPr anchor="ctr">
            <a:normAutofit/>
          </a:bodyPr>
          <a:lstStyle/>
          <a:p>
            <a:pPr algn="ctr"/>
            <a:r>
              <a:rPr lang="en-IN">
                <a:solidFill>
                  <a:srgbClr val="FFFFFF"/>
                </a:solidFill>
              </a:rPr>
              <a:t>Introduction: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DF172-D733-3AC1-415E-1E507F0DDA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7446" y="2413001"/>
            <a:ext cx="9048218" cy="3033180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FFFFFF"/>
                </a:solidFill>
              </a:rPr>
              <a:t>The COVID-19 pandemic has significantly impacted India, affecting millions of lives and the healthcare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FFFFFF"/>
                </a:solidFill>
              </a:rPr>
              <a:t>With ever-evolving data, it's critical to analyze and visualize COVID-19 trends to inform decision-making, identify patterns, and understand the pandemic’s trajectory.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FFFFFF"/>
                </a:solidFill>
              </a:rPr>
              <a:t>This dashboard provides an in-depth look at India’s COVID-19 statistics, including cases, vaccinations, recoveries, and testing rates across states and over time.</a:t>
            </a:r>
          </a:p>
          <a:p>
            <a:pPr marL="0" indent="0">
              <a:buNone/>
            </a:pPr>
            <a:endParaRPr lang="en-IN" sz="20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41907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roup 71">
            <a:extLst>
              <a:ext uri="{FF2B5EF4-FFF2-40B4-BE49-F238E27FC236}">
                <a16:creationId xmlns:a16="http://schemas.microsoft.com/office/drawing/2014/main" id="{A0B38558-5389-4817-936F-FD62560CAC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73" name="Rectangle 72">
              <a:extLst>
                <a:ext uri="{FF2B5EF4-FFF2-40B4-BE49-F238E27FC236}">
                  <a16:creationId xmlns:a16="http://schemas.microsoft.com/office/drawing/2014/main" id="{CCB252B9-42EF-4414-AA22-2A95C18197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4" name="Picture 2">
              <a:extLst>
                <a:ext uri="{FF2B5EF4-FFF2-40B4-BE49-F238E27FC236}">
                  <a16:creationId xmlns:a16="http://schemas.microsoft.com/office/drawing/2014/main" id="{F9C2C800-C3E3-4317-A3CC-1558D71F14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p14="http://schemas.microsoft.com/office/powerpoint/2010/main" xmlns:a14="http://schemas.microsoft.com/office/drawing/2010/main" xmlns:a16="http://schemas.microsoft.com/office/drawing/2014/main" xmlns="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" name="Picture 4" descr="Needle and vial">
            <a:extLst>
              <a:ext uri="{FF2B5EF4-FFF2-40B4-BE49-F238E27FC236}">
                <a16:creationId xmlns:a16="http://schemas.microsoft.com/office/drawing/2014/main" id="{92113511-7D3A-3CE2-733C-4F6B70BE60C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rcRect t="11011" b="4695"/>
          <a:stretch/>
        </p:blipFill>
        <p:spPr>
          <a:xfrm>
            <a:off x="3611" y="10"/>
            <a:ext cx="12188389" cy="6857990"/>
          </a:xfrm>
          <a:prstGeom prst="rect">
            <a:avLst/>
          </a:prstGeom>
        </p:spPr>
      </p:pic>
      <p:grpSp>
        <p:nvGrpSpPr>
          <p:cNvPr id="76" name="Group 75">
            <a:extLst>
              <a:ext uri="{FF2B5EF4-FFF2-40B4-BE49-F238E27FC236}">
                <a16:creationId xmlns:a16="http://schemas.microsoft.com/office/drawing/2014/main" id="{15502586-682B-4EDF-9515-674BB4E1CD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72533" y="0"/>
            <a:ext cx="11455400" cy="6848476"/>
            <a:chOff x="372533" y="0"/>
            <a:chExt cx="11455400" cy="6848476"/>
          </a:xfrm>
        </p:grpSpPr>
        <p:sp>
          <p:nvSpPr>
            <p:cNvPr id="77" name="Round Diagonal Corner Rectangle 7">
              <a:extLst>
                <a:ext uri="{FF2B5EF4-FFF2-40B4-BE49-F238E27FC236}">
                  <a16:creationId xmlns:a16="http://schemas.microsoft.com/office/drawing/2014/main" id="{C4491F87-B86B-413A-ACCD-56525E533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22867" y="766234"/>
              <a:ext cx="10346266" cy="5325532"/>
            </a:xfrm>
            <a:prstGeom prst="round2DiagRect">
              <a:avLst>
                <a:gd name="adj1" fmla="val 4147"/>
                <a:gd name="adj2" fmla="val 0"/>
              </a:avLst>
            </a:prstGeom>
            <a:solidFill>
              <a:schemeClr val="bg1">
                <a:alpha val="80000"/>
              </a:schemeClr>
            </a:solidFill>
            <a:ln w="19050" cap="sq">
              <a:solidFill>
                <a:schemeClr val="tx2">
                  <a:alpha val="60000"/>
                </a:schemeClr>
              </a:solidFill>
              <a:miter lim="800000"/>
            </a:ln>
            <a:effectLst>
              <a:outerShdw blurRad="889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04A25545-7FDA-465A-8546-9D927F8286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085512" y="0"/>
              <a:ext cx="650875" cy="1730375"/>
              <a:chOff x="11347978" y="0"/>
              <a:chExt cx="650875" cy="1730375"/>
            </a:xfrm>
          </p:grpSpPr>
          <p:sp>
            <p:nvSpPr>
              <p:cNvPr id="98" name="Freeform 32">
                <a:extLst>
                  <a:ext uri="{FF2B5EF4-FFF2-40B4-BE49-F238E27FC236}">
                    <a16:creationId xmlns:a16="http://schemas.microsoft.com/office/drawing/2014/main" id="{0AC67F09-E0D9-410A-A4DE-72D31697EB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67041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99" name="Freeform 33">
                <a:extLst>
                  <a:ext uri="{FF2B5EF4-FFF2-40B4-BE49-F238E27FC236}">
                    <a16:creationId xmlns:a16="http://schemas.microsoft.com/office/drawing/2014/main" id="{B78F2FDE-85C9-4650-919F-C35464007D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47978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00" name="Freeform 34">
                <a:extLst>
                  <a:ext uri="{FF2B5EF4-FFF2-40B4-BE49-F238E27FC236}">
                    <a16:creationId xmlns:a16="http://schemas.microsoft.com/office/drawing/2014/main" id="{57DD2F8B-5242-455C-B03F-E2F6B6732EF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14678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01" name="Freeform 37">
                <a:extLst>
                  <a:ext uri="{FF2B5EF4-FFF2-40B4-BE49-F238E27FC236}">
                    <a16:creationId xmlns:a16="http://schemas.microsoft.com/office/drawing/2014/main" id="{B8CE3E90-8A76-4CD5-B28C-D71FF37185D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94053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4C374541-D033-4B72-A232-5461EEAD4D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flipH="1">
              <a:off x="11229445" y="4867275"/>
              <a:ext cx="598488" cy="1981201"/>
              <a:chOff x="11424178" y="4867275"/>
              <a:chExt cx="598488" cy="1981201"/>
            </a:xfrm>
          </p:grpSpPr>
          <p:sp>
            <p:nvSpPr>
              <p:cNvPr id="92" name="Freeform 35">
                <a:extLst>
                  <a:ext uri="{FF2B5EF4-FFF2-40B4-BE49-F238E27FC236}">
                    <a16:creationId xmlns:a16="http://schemas.microsoft.com/office/drawing/2014/main" id="{94766BAB-FE6E-4247-886B-736F831FEB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14666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93" name="Freeform 36">
                <a:extLst>
                  <a:ext uri="{FF2B5EF4-FFF2-40B4-BE49-F238E27FC236}">
                    <a16:creationId xmlns:a16="http://schemas.microsoft.com/office/drawing/2014/main" id="{3C954FB2-C7A0-468C-8AD2-C278DCA642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55966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94" name="Freeform 38">
                <a:extLst>
                  <a:ext uri="{FF2B5EF4-FFF2-40B4-BE49-F238E27FC236}">
                    <a16:creationId xmlns:a16="http://schemas.microsoft.com/office/drawing/2014/main" id="{F52FBFD5-A528-4DB8-A802-814A7E421D6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19441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95" name="Freeform 39">
                <a:extLst>
                  <a:ext uri="{FF2B5EF4-FFF2-40B4-BE49-F238E27FC236}">
                    <a16:creationId xmlns:a16="http://schemas.microsoft.com/office/drawing/2014/main" id="{E57CCB6D-72AF-4D41-8C6C-9750D43DC6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24178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96" name="Freeform 40">
                <a:extLst>
                  <a:ext uri="{FF2B5EF4-FFF2-40B4-BE49-F238E27FC236}">
                    <a16:creationId xmlns:a16="http://schemas.microsoft.com/office/drawing/2014/main" id="{19D203AA-CF94-405B-800C-0C798552188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32166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97" name="Rectangle 41">
                <a:extLst>
                  <a:ext uri="{FF2B5EF4-FFF2-40B4-BE49-F238E27FC236}">
                    <a16:creationId xmlns:a16="http://schemas.microsoft.com/office/drawing/2014/main" id="{7D053665-E810-419F-9D63-2A54CB4773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22653" y="6596063"/>
                <a:ext cx="23813" cy="252413"/>
              </a:xfrm>
              <a:prstGeom prst="rect">
                <a:avLst/>
              </a:pr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DEAF6153-6BF6-448C-81C1-2817B0F780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flipH="1">
              <a:off x="440267" y="5118101"/>
              <a:ext cx="650875" cy="1730375"/>
              <a:chOff x="118533" y="5118101"/>
              <a:chExt cx="650875" cy="1730375"/>
            </a:xfrm>
          </p:grpSpPr>
          <p:sp>
            <p:nvSpPr>
              <p:cNvPr id="88" name="Freeform 32">
                <a:extLst>
                  <a:ext uri="{FF2B5EF4-FFF2-40B4-BE49-F238E27FC236}">
                    <a16:creationId xmlns:a16="http://schemas.microsoft.com/office/drawing/2014/main" id="{A7E0D3C0-552C-4741-AFBE-E665CEA068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237596" y="6335713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89" name="Freeform 33">
                <a:extLst>
                  <a:ext uri="{FF2B5EF4-FFF2-40B4-BE49-F238E27FC236}">
                    <a16:creationId xmlns:a16="http://schemas.microsoft.com/office/drawing/2014/main" id="{CAF96EBF-4E74-4F88-BD05-A4AE1694A4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118533" y="622141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90" name="Freeform 34">
                <a:extLst>
                  <a:ext uri="{FF2B5EF4-FFF2-40B4-BE49-F238E27FC236}">
                    <a16:creationId xmlns:a16="http://schemas.microsoft.com/office/drawing/2014/main" id="{D49C51B9-E4E4-410D-8AAB-7E308A1D452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385233" y="5118101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91" name="Freeform 37">
                <a:extLst>
                  <a:ext uri="{FF2B5EF4-FFF2-40B4-BE49-F238E27FC236}">
                    <a16:creationId xmlns:a16="http://schemas.microsoft.com/office/drawing/2014/main" id="{354F0627-1BD6-4455-967A-32DB31C82C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464608" y="5299075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BC21AED9-0CB5-426C-A1C4-6EEB548050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72533" y="0"/>
              <a:ext cx="598488" cy="1981201"/>
              <a:chOff x="194733" y="0"/>
              <a:chExt cx="598488" cy="1981201"/>
            </a:xfrm>
          </p:grpSpPr>
          <p:sp>
            <p:nvSpPr>
              <p:cNvPr id="82" name="Freeform 35">
                <a:extLst>
                  <a:ext uri="{FF2B5EF4-FFF2-40B4-BE49-F238E27FC236}">
                    <a16:creationId xmlns:a16="http://schemas.microsoft.com/office/drawing/2014/main" id="{8D8A778B-9916-47AC-A28A-07F01A83F49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285221" y="0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83" name="Freeform 36">
                <a:extLst>
                  <a:ext uri="{FF2B5EF4-FFF2-40B4-BE49-F238E27FC236}">
                    <a16:creationId xmlns:a16="http://schemas.microsoft.com/office/drawing/2014/main" id="{65323B96-DF0E-463C-B290-C22D3C55324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526521" y="1141413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84" name="Freeform 38">
                <a:extLst>
                  <a:ext uri="{FF2B5EF4-FFF2-40B4-BE49-F238E27FC236}">
                    <a16:creationId xmlns:a16="http://schemas.microsoft.com/office/drawing/2014/main" id="{65A0E255-1142-422E-A62A-5044177C5AE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389996" y="1792288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85" name="Freeform 39">
                <a:extLst>
                  <a:ext uri="{FF2B5EF4-FFF2-40B4-BE49-F238E27FC236}">
                    <a16:creationId xmlns:a16="http://schemas.microsoft.com/office/drawing/2014/main" id="{233A955D-DB0D-42F8-B490-E01FB9C45C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194733" y="0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86" name="Freeform 40">
                <a:extLst>
                  <a:ext uri="{FF2B5EF4-FFF2-40B4-BE49-F238E27FC236}">
                    <a16:creationId xmlns:a16="http://schemas.microsoft.com/office/drawing/2014/main" id="{F0F0C29B-EB52-470C-AF64-FC54F5C250F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02721" y="24288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87" name="Rectangle 41">
                <a:extLst>
                  <a:ext uri="{FF2B5EF4-FFF2-40B4-BE49-F238E27FC236}">
                    <a16:creationId xmlns:a16="http://schemas.microsoft.com/office/drawing/2014/main" id="{A6C0E942-454D-483D-84FB-89308C8F15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93208" y="0"/>
                <a:ext cx="23813" cy="252413"/>
              </a:xfrm>
              <a:prstGeom prst="rect">
                <a:avLst/>
              </a:pr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1E6B8F8-8E4B-D4CF-8FD6-A65747E73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007533"/>
            <a:ext cx="9905998" cy="1092200"/>
          </a:xfrm>
        </p:spPr>
        <p:txBody>
          <a:bodyPr>
            <a:normAutofit/>
          </a:bodyPr>
          <a:lstStyle/>
          <a:p>
            <a:pPr algn="ctr"/>
            <a:r>
              <a:rPr lang="en-IN"/>
              <a:t>Objective:</a:t>
            </a:r>
            <a:br>
              <a:rPr lang="en-IN"/>
            </a:b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593BC4-C67E-E5CF-ED87-259AA425F2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1" y="2252134"/>
            <a:ext cx="9905999" cy="3454399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/>
              <a:t>Present key insights on the spread of COVID-19 in India.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/>
              <a:t>Highlight vaccination progress, regional trends, and cases analysis.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/>
              <a:t>Enable better understanding for policy-making, resource allocation, and public awareness.</a:t>
            </a:r>
          </a:p>
          <a:p>
            <a:endParaRPr lang="en-IN" sz="2000"/>
          </a:p>
        </p:txBody>
      </p:sp>
    </p:spTree>
    <p:extLst>
      <p:ext uri="{BB962C8B-B14F-4D97-AF65-F5344CB8AC3E}">
        <p14:creationId xmlns:p14="http://schemas.microsoft.com/office/powerpoint/2010/main" val="36474048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Picture 2">
            <a:extLst>
              <a:ext uri="{FF2B5EF4-FFF2-40B4-BE49-F238E27FC236}">
                <a16:creationId xmlns:a16="http://schemas.microsoft.com/office/drawing/2014/main" id="{5FF7B57D-FF7B-48B3-9F60-9BCEEECF9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6" name="Group 95">
            <a:extLst>
              <a:ext uri="{FF2B5EF4-FFF2-40B4-BE49-F238E27FC236}">
                <a16:creationId xmlns:a16="http://schemas.microsoft.com/office/drawing/2014/main" id="{EB95AFDF-FA7D-4311-9C65-6D507D92F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9A5CCD98-20C1-4404-B788-FDA92F8A44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09" name="Rectangle 5">
                <a:extLst>
                  <a:ext uri="{FF2B5EF4-FFF2-40B4-BE49-F238E27FC236}">
                    <a16:creationId xmlns:a16="http://schemas.microsoft.com/office/drawing/2014/main" id="{C1424C76-B5C3-468E-86FA-8D9B269053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10" name="Freeform 6">
                <a:extLst>
                  <a:ext uri="{FF2B5EF4-FFF2-40B4-BE49-F238E27FC236}">
                    <a16:creationId xmlns:a16="http://schemas.microsoft.com/office/drawing/2014/main" id="{B3922267-72C9-403B-A6DE-7D0A43D554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11" name="Freeform 7">
                <a:extLst>
                  <a:ext uri="{FF2B5EF4-FFF2-40B4-BE49-F238E27FC236}">
                    <a16:creationId xmlns:a16="http://schemas.microsoft.com/office/drawing/2014/main" id="{7276DB68-2E8D-4723-852B-7476DD38FE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12" name="Freeform 8">
                <a:extLst>
                  <a:ext uri="{FF2B5EF4-FFF2-40B4-BE49-F238E27FC236}">
                    <a16:creationId xmlns:a16="http://schemas.microsoft.com/office/drawing/2014/main" id="{0A155711-4993-4D1E-89EA-A397C164F0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13" name="Freeform 9">
                <a:extLst>
                  <a:ext uri="{FF2B5EF4-FFF2-40B4-BE49-F238E27FC236}">
                    <a16:creationId xmlns:a16="http://schemas.microsoft.com/office/drawing/2014/main" id="{2AB42136-2551-4CAA-857F-65FA3247B49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14" name="Freeform 10">
                <a:extLst>
                  <a:ext uri="{FF2B5EF4-FFF2-40B4-BE49-F238E27FC236}">
                    <a16:creationId xmlns:a16="http://schemas.microsoft.com/office/drawing/2014/main" id="{7C2ADEA1-EA3E-4C0E-A28E-460092F7FF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15" name="Freeform 11">
                <a:extLst>
                  <a:ext uri="{FF2B5EF4-FFF2-40B4-BE49-F238E27FC236}">
                    <a16:creationId xmlns:a16="http://schemas.microsoft.com/office/drawing/2014/main" id="{B04584B3-081C-4286-A840-AB5B16B10A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16" name="Freeform 12">
                <a:extLst>
                  <a:ext uri="{FF2B5EF4-FFF2-40B4-BE49-F238E27FC236}">
                    <a16:creationId xmlns:a16="http://schemas.microsoft.com/office/drawing/2014/main" id="{3AB388FD-C246-4936-A041-E0413A1329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17" name="Freeform 13">
                <a:extLst>
                  <a:ext uri="{FF2B5EF4-FFF2-40B4-BE49-F238E27FC236}">
                    <a16:creationId xmlns:a16="http://schemas.microsoft.com/office/drawing/2014/main" id="{57692343-2D12-4F57-836C-945D407B68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18" name="Freeform 14">
                <a:extLst>
                  <a:ext uri="{FF2B5EF4-FFF2-40B4-BE49-F238E27FC236}">
                    <a16:creationId xmlns:a16="http://schemas.microsoft.com/office/drawing/2014/main" id="{062EE710-0210-4840-8698-E0DF1C6170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19" name="Freeform 15">
                <a:extLst>
                  <a:ext uri="{FF2B5EF4-FFF2-40B4-BE49-F238E27FC236}">
                    <a16:creationId xmlns:a16="http://schemas.microsoft.com/office/drawing/2014/main" id="{161892F4-6071-40CD-8E18-CDEE0C91B5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0" name="Line 16">
                <a:extLst>
                  <a:ext uri="{FF2B5EF4-FFF2-40B4-BE49-F238E27FC236}">
                    <a16:creationId xmlns:a16="http://schemas.microsoft.com/office/drawing/2014/main" id="{3E6BBE44-8D88-407D-B1C6-10C89DD617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1" name="Freeform 17">
                <a:extLst>
                  <a:ext uri="{FF2B5EF4-FFF2-40B4-BE49-F238E27FC236}">
                    <a16:creationId xmlns:a16="http://schemas.microsoft.com/office/drawing/2014/main" id="{1E90AE6E-328E-4730-825C-B5130F5CFC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2" name="Freeform 18">
                <a:extLst>
                  <a:ext uri="{FF2B5EF4-FFF2-40B4-BE49-F238E27FC236}">
                    <a16:creationId xmlns:a16="http://schemas.microsoft.com/office/drawing/2014/main" id="{24EC969F-6E4A-4163-ABDA-4674429A3D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3" name="Freeform 19">
                <a:extLst>
                  <a:ext uri="{FF2B5EF4-FFF2-40B4-BE49-F238E27FC236}">
                    <a16:creationId xmlns:a16="http://schemas.microsoft.com/office/drawing/2014/main" id="{1B735C94-B049-42C6-9DEF-5DB70D58CE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4" name="Freeform 20">
                <a:extLst>
                  <a:ext uri="{FF2B5EF4-FFF2-40B4-BE49-F238E27FC236}">
                    <a16:creationId xmlns:a16="http://schemas.microsoft.com/office/drawing/2014/main" id="{051C02E6-1954-478B-AEAE-BF8F36BE94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5" name="Rectangle 21">
                <a:extLst>
                  <a:ext uri="{FF2B5EF4-FFF2-40B4-BE49-F238E27FC236}">
                    <a16:creationId xmlns:a16="http://schemas.microsoft.com/office/drawing/2014/main" id="{6710B1C0-310A-48D0-B824-459D9AFC2F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6" name="Freeform 22">
                <a:extLst>
                  <a:ext uri="{FF2B5EF4-FFF2-40B4-BE49-F238E27FC236}">
                    <a16:creationId xmlns:a16="http://schemas.microsoft.com/office/drawing/2014/main" id="{1204A606-D9A6-4DC6-9F0E-D516EA1EB9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7" name="Freeform 23">
                <a:extLst>
                  <a:ext uri="{FF2B5EF4-FFF2-40B4-BE49-F238E27FC236}">
                    <a16:creationId xmlns:a16="http://schemas.microsoft.com/office/drawing/2014/main" id="{EE569555-0243-4979-A537-C9B4AFD5F2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8" name="Freeform 24">
                <a:extLst>
                  <a:ext uri="{FF2B5EF4-FFF2-40B4-BE49-F238E27FC236}">
                    <a16:creationId xmlns:a16="http://schemas.microsoft.com/office/drawing/2014/main" id="{D52A977D-4993-48AF-A792-F2DE096391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9" name="Freeform 25">
                <a:extLst>
                  <a:ext uri="{FF2B5EF4-FFF2-40B4-BE49-F238E27FC236}">
                    <a16:creationId xmlns:a16="http://schemas.microsoft.com/office/drawing/2014/main" id="{93CFF2DC-E52E-4D99-97D5-B0D7B792E5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0" name="Freeform 26">
                <a:extLst>
                  <a:ext uri="{FF2B5EF4-FFF2-40B4-BE49-F238E27FC236}">
                    <a16:creationId xmlns:a16="http://schemas.microsoft.com/office/drawing/2014/main" id="{5E175372-AF09-42A7-B3D0-226C8348917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1" name="Freeform 27">
                <a:extLst>
                  <a:ext uri="{FF2B5EF4-FFF2-40B4-BE49-F238E27FC236}">
                    <a16:creationId xmlns:a16="http://schemas.microsoft.com/office/drawing/2014/main" id="{ABF20BA9-F4B2-49EA-A573-578B189774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2" name="Freeform 28">
                <a:extLst>
                  <a:ext uri="{FF2B5EF4-FFF2-40B4-BE49-F238E27FC236}">
                    <a16:creationId xmlns:a16="http://schemas.microsoft.com/office/drawing/2014/main" id="{AA3A7A4B-C811-4E23-8BFD-5823A032DA3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3" name="Freeform 29">
                <a:extLst>
                  <a:ext uri="{FF2B5EF4-FFF2-40B4-BE49-F238E27FC236}">
                    <a16:creationId xmlns:a16="http://schemas.microsoft.com/office/drawing/2014/main" id="{47537781-F057-4B97-AD8F-12FE9BE599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4" name="Freeform 30">
                <a:extLst>
                  <a:ext uri="{FF2B5EF4-FFF2-40B4-BE49-F238E27FC236}">
                    <a16:creationId xmlns:a16="http://schemas.microsoft.com/office/drawing/2014/main" id="{078883C7-EB52-4BB7-A9A7-F8C046A833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5" name="Freeform 31">
                <a:extLst>
                  <a:ext uri="{FF2B5EF4-FFF2-40B4-BE49-F238E27FC236}">
                    <a16:creationId xmlns:a16="http://schemas.microsoft.com/office/drawing/2014/main" id="{63CCBBF8-5972-4ED3-AB5B-46DC425B17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A8C19883-37FB-437C-A3AA-89AA6239D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99" name="Freeform 32">
                <a:extLst>
                  <a:ext uri="{FF2B5EF4-FFF2-40B4-BE49-F238E27FC236}">
                    <a16:creationId xmlns:a16="http://schemas.microsoft.com/office/drawing/2014/main" id="{AF1753DD-4CEF-45EC-B952-90EA8895D7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00" name="Freeform 33">
                <a:extLst>
                  <a:ext uri="{FF2B5EF4-FFF2-40B4-BE49-F238E27FC236}">
                    <a16:creationId xmlns:a16="http://schemas.microsoft.com/office/drawing/2014/main" id="{5B9356DB-C1BE-4D76-8FA7-4FBAA12D1D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01" name="Freeform 34">
                <a:extLst>
                  <a:ext uri="{FF2B5EF4-FFF2-40B4-BE49-F238E27FC236}">
                    <a16:creationId xmlns:a16="http://schemas.microsoft.com/office/drawing/2014/main" id="{C4F59561-572D-42BA-A6FD-F3AFA1A394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02" name="Freeform 35">
                <a:extLst>
                  <a:ext uri="{FF2B5EF4-FFF2-40B4-BE49-F238E27FC236}">
                    <a16:creationId xmlns:a16="http://schemas.microsoft.com/office/drawing/2014/main" id="{BB7A51A1-D509-4494-BAE2-1B96CAD4DB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03" name="Freeform 36">
                <a:extLst>
                  <a:ext uri="{FF2B5EF4-FFF2-40B4-BE49-F238E27FC236}">
                    <a16:creationId xmlns:a16="http://schemas.microsoft.com/office/drawing/2014/main" id="{D3FE0B5A-55DE-4E56-8E9B-B92D1DB9A8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04" name="Freeform 37">
                <a:extLst>
                  <a:ext uri="{FF2B5EF4-FFF2-40B4-BE49-F238E27FC236}">
                    <a16:creationId xmlns:a16="http://schemas.microsoft.com/office/drawing/2014/main" id="{F125661C-3A0E-4B6E-B2AB-1B08C89251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05" name="Freeform 38">
                <a:extLst>
                  <a:ext uri="{FF2B5EF4-FFF2-40B4-BE49-F238E27FC236}">
                    <a16:creationId xmlns:a16="http://schemas.microsoft.com/office/drawing/2014/main" id="{39304006-EE77-438A-A0D1-537322356C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06" name="Freeform 39">
                <a:extLst>
                  <a:ext uri="{FF2B5EF4-FFF2-40B4-BE49-F238E27FC236}">
                    <a16:creationId xmlns:a16="http://schemas.microsoft.com/office/drawing/2014/main" id="{C6031DEB-4109-4049-82CF-DD06483A2C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07" name="Freeform 40">
                <a:extLst>
                  <a:ext uri="{FF2B5EF4-FFF2-40B4-BE49-F238E27FC236}">
                    <a16:creationId xmlns:a16="http://schemas.microsoft.com/office/drawing/2014/main" id="{65FC2657-18D6-4490-88D6-32E6B1C6FB1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08" name="Rectangle 41">
                <a:extLst>
                  <a:ext uri="{FF2B5EF4-FFF2-40B4-BE49-F238E27FC236}">
                    <a16:creationId xmlns:a16="http://schemas.microsoft.com/office/drawing/2014/main" id="{20BEA03B-3EAD-4FA2-BC9D-25A14D635C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</p:grpSp>
      <p:sp useBgFill="1">
        <p:nvSpPr>
          <p:cNvPr id="137" name="Rectangle 136">
            <a:extLst>
              <a:ext uri="{FF2B5EF4-FFF2-40B4-BE49-F238E27FC236}">
                <a16:creationId xmlns:a16="http://schemas.microsoft.com/office/drawing/2014/main" id="{C2E4E997-8672-4FFD-B8EC-9932A8E47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9" name="Picture 2">
            <a:extLst>
              <a:ext uri="{FF2B5EF4-FFF2-40B4-BE49-F238E27FC236}">
                <a16:creationId xmlns:a16="http://schemas.microsoft.com/office/drawing/2014/main" id="{FE6BA9E6-1D9E-4D30-B528-D49FA1342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A map of the world with yellow dots&#10;&#10;Description automatically generated">
            <a:extLst>
              <a:ext uri="{FF2B5EF4-FFF2-40B4-BE49-F238E27FC236}">
                <a16:creationId xmlns:a16="http://schemas.microsoft.com/office/drawing/2014/main" id="{693920EA-AB1E-4B45-A682-4319EECFA1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438624"/>
            <a:ext cx="5456279" cy="3955802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grpSp>
        <p:nvGrpSpPr>
          <p:cNvPr id="141" name="Group 140">
            <a:extLst>
              <a:ext uri="{FF2B5EF4-FFF2-40B4-BE49-F238E27FC236}">
                <a16:creationId xmlns:a16="http://schemas.microsoft.com/office/drawing/2014/main" id="{453E4DEE-E996-40F8-8635-0FF43D734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42" name="Rectangle 5">
              <a:extLst>
                <a:ext uri="{FF2B5EF4-FFF2-40B4-BE49-F238E27FC236}">
                  <a16:creationId xmlns:a16="http://schemas.microsoft.com/office/drawing/2014/main" id="{08BD1D3E-43CE-49EB-A424-0738950C64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43" name="Freeform 6">
              <a:extLst>
                <a:ext uri="{FF2B5EF4-FFF2-40B4-BE49-F238E27FC236}">
                  <a16:creationId xmlns:a16="http://schemas.microsoft.com/office/drawing/2014/main" id="{E9182037-E3FA-489A-95D5-29E424842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44" name="Freeform 7">
              <a:extLst>
                <a:ext uri="{FF2B5EF4-FFF2-40B4-BE49-F238E27FC236}">
                  <a16:creationId xmlns:a16="http://schemas.microsoft.com/office/drawing/2014/main" id="{E8864E76-AD7F-4BEE-B3F6-A78FA42AE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45" name="Freeform 8">
              <a:extLst>
                <a:ext uri="{FF2B5EF4-FFF2-40B4-BE49-F238E27FC236}">
                  <a16:creationId xmlns:a16="http://schemas.microsoft.com/office/drawing/2014/main" id="{8AD071B3-046D-4479-91FE-01E9AD7C8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46" name="Freeform 9">
              <a:extLst>
                <a:ext uri="{FF2B5EF4-FFF2-40B4-BE49-F238E27FC236}">
                  <a16:creationId xmlns:a16="http://schemas.microsoft.com/office/drawing/2014/main" id="{91D776F5-E902-4A4D-A75D-A46E063C9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47" name="Freeform 10">
              <a:extLst>
                <a:ext uri="{FF2B5EF4-FFF2-40B4-BE49-F238E27FC236}">
                  <a16:creationId xmlns:a16="http://schemas.microsoft.com/office/drawing/2014/main" id="{EBED8F24-A998-4952-AB68-E2074F074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48" name="Freeform 11">
              <a:extLst>
                <a:ext uri="{FF2B5EF4-FFF2-40B4-BE49-F238E27FC236}">
                  <a16:creationId xmlns:a16="http://schemas.microsoft.com/office/drawing/2014/main" id="{74D7A646-8CDC-49B3-9C44-3EF38DB426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49" name="Freeform 12">
              <a:extLst>
                <a:ext uri="{FF2B5EF4-FFF2-40B4-BE49-F238E27FC236}">
                  <a16:creationId xmlns:a16="http://schemas.microsoft.com/office/drawing/2014/main" id="{D4E99D14-E4F4-419B-9AAF-8D1CEAB28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0" name="Freeform 13">
              <a:extLst>
                <a:ext uri="{FF2B5EF4-FFF2-40B4-BE49-F238E27FC236}">
                  <a16:creationId xmlns:a16="http://schemas.microsoft.com/office/drawing/2014/main" id="{377E106C-5445-4A52-9F7E-DA1738744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1" name="Freeform 14">
              <a:extLst>
                <a:ext uri="{FF2B5EF4-FFF2-40B4-BE49-F238E27FC236}">
                  <a16:creationId xmlns:a16="http://schemas.microsoft.com/office/drawing/2014/main" id="{752BFE96-D378-4BAE-A64B-F851A34C4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2" name="Freeform 15">
              <a:extLst>
                <a:ext uri="{FF2B5EF4-FFF2-40B4-BE49-F238E27FC236}">
                  <a16:creationId xmlns:a16="http://schemas.microsoft.com/office/drawing/2014/main" id="{B88FFB19-5A5E-4078-B467-9D4ABD21B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3" name="Line 16">
              <a:extLst>
                <a:ext uri="{FF2B5EF4-FFF2-40B4-BE49-F238E27FC236}">
                  <a16:creationId xmlns:a16="http://schemas.microsoft.com/office/drawing/2014/main" id="{11042975-3D19-4728-BCDA-D3F5CD633E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4" name="Freeform 17">
              <a:extLst>
                <a:ext uri="{FF2B5EF4-FFF2-40B4-BE49-F238E27FC236}">
                  <a16:creationId xmlns:a16="http://schemas.microsoft.com/office/drawing/2014/main" id="{A28972BD-D2E1-4DCA-A907-2E3B6F606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5" name="Freeform 18">
              <a:extLst>
                <a:ext uri="{FF2B5EF4-FFF2-40B4-BE49-F238E27FC236}">
                  <a16:creationId xmlns:a16="http://schemas.microsoft.com/office/drawing/2014/main" id="{1C806824-5C2D-4747-B038-69EE4074B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6" name="Freeform 19">
              <a:extLst>
                <a:ext uri="{FF2B5EF4-FFF2-40B4-BE49-F238E27FC236}">
                  <a16:creationId xmlns:a16="http://schemas.microsoft.com/office/drawing/2014/main" id="{3B33F710-16D7-4F48-BFCA-66C9CA2352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7" name="Freeform 20">
              <a:extLst>
                <a:ext uri="{FF2B5EF4-FFF2-40B4-BE49-F238E27FC236}">
                  <a16:creationId xmlns:a16="http://schemas.microsoft.com/office/drawing/2014/main" id="{6C8C8ED4-90FA-4E97-AAF0-D5D51E6A9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8" name="Rectangle 21">
              <a:extLst>
                <a:ext uri="{FF2B5EF4-FFF2-40B4-BE49-F238E27FC236}">
                  <a16:creationId xmlns:a16="http://schemas.microsoft.com/office/drawing/2014/main" id="{6C5EB9C1-B25F-4172-8A96-5950ECC828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9" name="Freeform 22">
              <a:extLst>
                <a:ext uri="{FF2B5EF4-FFF2-40B4-BE49-F238E27FC236}">
                  <a16:creationId xmlns:a16="http://schemas.microsoft.com/office/drawing/2014/main" id="{097E6E8A-9373-4655-882B-21715CCE9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60" name="Freeform 23">
              <a:extLst>
                <a:ext uri="{FF2B5EF4-FFF2-40B4-BE49-F238E27FC236}">
                  <a16:creationId xmlns:a16="http://schemas.microsoft.com/office/drawing/2014/main" id="{EB8CC766-1206-4372-ACAF-8230AF4D54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61" name="Freeform 24">
              <a:extLst>
                <a:ext uri="{FF2B5EF4-FFF2-40B4-BE49-F238E27FC236}">
                  <a16:creationId xmlns:a16="http://schemas.microsoft.com/office/drawing/2014/main" id="{1C8E2511-2489-47B2-9C19-C410910DD9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62" name="Freeform 25">
              <a:extLst>
                <a:ext uri="{FF2B5EF4-FFF2-40B4-BE49-F238E27FC236}">
                  <a16:creationId xmlns:a16="http://schemas.microsoft.com/office/drawing/2014/main" id="{D7820196-0A47-47EF-832C-A688E897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63" name="Freeform 26">
              <a:extLst>
                <a:ext uri="{FF2B5EF4-FFF2-40B4-BE49-F238E27FC236}">
                  <a16:creationId xmlns:a16="http://schemas.microsoft.com/office/drawing/2014/main" id="{4982E0BF-34AE-48A3-AD6B-E0F3CD05D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64" name="Freeform 27">
              <a:extLst>
                <a:ext uri="{FF2B5EF4-FFF2-40B4-BE49-F238E27FC236}">
                  <a16:creationId xmlns:a16="http://schemas.microsoft.com/office/drawing/2014/main" id="{CD34643B-9DF2-4310-8868-48252C339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65" name="Freeform 28">
              <a:extLst>
                <a:ext uri="{FF2B5EF4-FFF2-40B4-BE49-F238E27FC236}">
                  <a16:creationId xmlns:a16="http://schemas.microsoft.com/office/drawing/2014/main" id="{4E020C4E-AF64-44A8-B830-779541D8D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66" name="Freeform 29">
              <a:extLst>
                <a:ext uri="{FF2B5EF4-FFF2-40B4-BE49-F238E27FC236}">
                  <a16:creationId xmlns:a16="http://schemas.microsoft.com/office/drawing/2014/main" id="{D97BC3D3-B1B3-4825-9169-BBEF1DBCF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67" name="Freeform 30">
              <a:extLst>
                <a:ext uri="{FF2B5EF4-FFF2-40B4-BE49-F238E27FC236}">
                  <a16:creationId xmlns:a16="http://schemas.microsoft.com/office/drawing/2014/main" id="{A750DC4F-1DAF-470E-98C6-6C68DEB93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68" name="Freeform 31">
              <a:extLst>
                <a:ext uri="{FF2B5EF4-FFF2-40B4-BE49-F238E27FC236}">
                  <a16:creationId xmlns:a16="http://schemas.microsoft.com/office/drawing/2014/main" id="{2F99594A-5BBD-4E10-A818-8BE52B7D9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aphicFrame>
        <p:nvGraphicFramePr>
          <p:cNvPr id="89" name="TextBox 5">
            <a:extLst>
              <a:ext uri="{FF2B5EF4-FFF2-40B4-BE49-F238E27FC236}">
                <a16:creationId xmlns:a16="http://schemas.microsoft.com/office/drawing/2014/main" id="{015D773C-8F35-D8EC-F2EF-A156B8C3AE0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35607132"/>
              </p:ext>
            </p:extLst>
          </p:nvPr>
        </p:nvGraphicFramePr>
        <p:xfrm>
          <a:off x="1141412" y="2249487"/>
          <a:ext cx="4459287" cy="39650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3582741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4" name="Rectangle 113">
            <a:extLst>
              <a:ext uri="{FF2B5EF4-FFF2-40B4-BE49-F238E27FC236}">
                <a16:creationId xmlns:a16="http://schemas.microsoft.com/office/drawing/2014/main" id="{C2E4E997-8672-4FFD-B8EC-9932A8E47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6" name="Picture 2">
            <a:extLst>
              <a:ext uri="{FF2B5EF4-FFF2-40B4-BE49-F238E27FC236}">
                <a16:creationId xmlns:a16="http://schemas.microsoft.com/office/drawing/2014/main" id="{FE6BA9E6-1D9E-4D30-B528-D49FA1342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FFC5D17-0C02-2B48-1B6C-CEC97FA36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4459286" cy="1478570"/>
          </a:xfrm>
        </p:spPr>
        <p:txBody>
          <a:bodyPr>
            <a:normAutofit/>
          </a:bodyPr>
          <a:lstStyle/>
          <a:p>
            <a:r>
              <a:rPr lang="en-US" sz="3200"/>
              <a:t>Cumulative Confirmed, Deaths, Recovered by Date</a:t>
            </a:r>
            <a:endParaRPr lang="en-IN" sz="3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13216B-D4A4-E6DB-11E2-9C1241E19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4459287" cy="3965046"/>
          </a:xfrm>
        </p:spPr>
        <p:txBody>
          <a:bodyPr>
            <a:normAutofit/>
          </a:bodyPr>
          <a:lstStyle/>
          <a:p>
            <a:r>
              <a:rPr lang="en-US" sz="1900"/>
              <a:t>The yellow line shows the steady increase in confirmed cases throughout the month.</a:t>
            </a:r>
          </a:p>
          <a:p>
            <a:r>
              <a:rPr lang="en-US" sz="1900"/>
              <a:t>The green line reflects the number of recovered cases, which also rises but at a slightly slower pace than confirmed cases.</a:t>
            </a:r>
          </a:p>
          <a:p>
            <a:r>
              <a:rPr lang="en-US" sz="1900"/>
              <a:t>The orange line represents death cases, remaining relatively flat and close to the 0M mark, indicating a lower number of fatalities compared to confirmed and recovered cases.</a:t>
            </a:r>
            <a:endParaRPr lang="en-IN" sz="1900"/>
          </a:p>
        </p:txBody>
      </p:sp>
      <p:pic>
        <p:nvPicPr>
          <p:cNvPr id="5" name="Picture 4" descr="A screen shot of a graph&#10;&#10;Description automatically generated">
            <a:extLst>
              <a:ext uri="{FF2B5EF4-FFF2-40B4-BE49-F238E27FC236}">
                <a16:creationId xmlns:a16="http://schemas.microsoft.com/office/drawing/2014/main" id="{6A1C2DDA-9EDE-F3E1-0450-BE8F71F469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754952"/>
            <a:ext cx="5456279" cy="1323147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grpSp>
        <p:nvGrpSpPr>
          <p:cNvPr id="118" name="Group 117">
            <a:extLst>
              <a:ext uri="{FF2B5EF4-FFF2-40B4-BE49-F238E27FC236}">
                <a16:creationId xmlns:a16="http://schemas.microsoft.com/office/drawing/2014/main" id="{453E4DEE-E996-40F8-8635-0FF43D734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19" name="Rectangle 5">
              <a:extLst>
                <a:ext uri="{FF2B5EF4-FFF2-40B4-BE49-F238E27FC236}">
                  <a16:creationId xmlns:a16="http://schemas.microsoft.com/office/drawing/2014/main" id="{08BD1D3E-43CE-49EB-A424-0738950C64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0" name="Freeform 6">
              <a:extLst>
                <a:ext uri="{FF2B5EF4-FFF2-40B4-BE49-F238E27FC236}">
                  <a16:creationId xmlns:a16="http://schemas.microsoft.com/office/drawing/2014/main" id="{E9182037-E3FA-489A-95D5-29E424842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1" name="Freeform 7">
              <a:extLst>
                <a:ext uri="{FF2B5EF4-FFF2-40B4-BE49-F238E27FC236}">
                  <a16:creationId xmlns:a16="http://schemas.microsoft.com/office/drawing/2014/main" id="{E8864E76-AD7F-4BEE-B3F6-A78FA42AE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2" name="Freeform 8">
              <a:extLst>
                <a:ext uri="{FF2B5EF4-FFF2-40B4-BE49-F238E27FC236}">
                  <a16:creationId xmlns:a16="http://schemas.microsoft.com/office/drawing/2014/main" id="{8AD071B3-046D-4479-91FE-01E9AD7C8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3" name="Freeform 9">
              <a:extLst>
                <a:ext uri="{FF2B5EF4-FFF2-40B4-BE49-F238E27FC236}">
                  <a16:creationId xmlns:a16="http://schemas.microsoft.com/office/drawing/2014/main" id="{91D776F5-E902-4A4D-A75D-A46E063C9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4" name="Freeform 10">
              <a:extLst>
                <a:ext uri="{FF2B5EF4-FFF2-40B4-BE49-F238E27FC236}">
                  <a16:creationId xmlns:a16="http://schemas.microsoft.com/office/drawing/2014/main" id="{EBED8F24-A998-4952-AB68-E2074F074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5" name="Freeform 11">
              <a:extLst>
                <a:ext uri="{FF2B5EF4-FFF2-40B4-BE49-F238E27FC236}">
                  <a16:creationId xmlns:a16="http://schemas.microsoft.com/office/drawing/2014/main" id="{74D7A646-8CDC-49B3-9C44-3EF38DB426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6" name="Freeform 12">
              <a:extLst>
                <a:ext uri="{FF2B5EF4-FFF2-40B4-BE49-F238E27FC236}">
                  <a16:creationId xmlns:a16="http://schemas.microsoft.com/office/drawing/2014/main" id="{D4E99D14-E4F4-419B-9AAF-8D1CEAB28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7" name="Freeform 13">
              <a:extLst>
                <a:ext uri="{FF2B5EF4-FFF2-40B4-BE49-F238E27FC236}">
                  <a16:creationId xmlns:a16="http://schemas.microsoft.com/office/drawing/2014/main" id="{377E106C-5445-4A52-9F7E-DA1738744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8" name="Freeform 14">
              <a:extLst>
                <a:ext uri="{FF2B5EF4-FFF2-40B4-BE49-F238E27FC236}">
                  <a16:creationId xmlns:a16="http://schemas.microsoft.com/office/drawing/2014/main" id="{752BFE96-D378-4BAE-A64B-F851A34C4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9" name="Freeform 15">
              <a:extLst>
                <a:ext uri="{FF2B5EF4-FFF2-40B4-BE49-F238E27FC236}">
                  <a16:creationId xmlns:a16="http://schemas.microsoft.com/office/drawing/2014/main" id="{B88FFB19-5A5E-4078-B467-9D4ABD21B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30" name="Line 16">
              <a:extLst>
                <a:ext uri="{FF2B5EF4-FFF2-40B4-BE49-F238E27FC236}">
                  <a16:creationId xmlns:a16="http://schemas.microsoft.com/office/drawing/2014/main" id="{11042975-3D19-4728-BCDA-D3F5CD633E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1" name="Freeform 17">
              <a:extLst>
                <a:ext uri="{FF2B5EF4-FFF2-40B4-BE49-F238E27FC236}">
                  <a16:creationId xmlns:a16="http://schemas.microsoft.com/office/drawing/2014/main" id="{A28972BD-D2E1-4DCA-A907-2E3B6F606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32" name="Freeform 18">
              <a:extLst>
                <a:ext uri="{FF2B5EF4-FFF2-40B4-BE49-F238E27FC236}">
                  <a16:creationId xmlns:a16="http://schemas.microsoft.com/office/drawing/2014/main" id="{1C806824-5C2D-4747-B038-69EE4074B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33" name="Freeform 19">
              <a:extLst>
                <a:ext uri="{FF2B5EF4-FFF2-40B4-BE49-F238E27FC236}">
                  <a16:creationId xmlns:a16="http://schemas.microsoft.com/office/drawing/2014/main" id="{3B33F710-16D7-4F48-BFCA-66C9CA2352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34" name="Freeform 20">
              <a:extLst>
                <a:ext uri="{FF2B5EF4-FFF2-40B4-BE49-F238E27FC236}">
                  <a16:creationId xmlns:a16="http://schemas.microsoft.com/office/drawing/2014/main" id="{6C8C8ED4-90FA-4E97-AAF0-D5D51E6A9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35" name="Rectangle 21">
              <a:extLst>
                <a:ext uri="{FF2B5EF4-FFF2-40B4-BE49-F238E27FC236}">
                  <a16:creationId xmlns:a16="http://schemas.microsoft.com/office/drawing/2014/main" id="{6C5EB9C1-B25F-4172-8A96-5950ECC828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36" name="Freeform 22">
              <a:extLst>
                <a:ext uri="{FF2B5EF4-FFF2-40B4-BE49-F238E27FC236}">
                  <a16:creationId xmlns:a16="http://schemas.microsoft.com/office/drawing/2014/main" id="{097E6E8A-9373-4655-882B-21715CCE9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37" name="Freeform 23">
              <a:extLst>
                <a:ext uri="{FF2B5EF4-FFF2-40B4-BE49-F238E27FC236}">
                  <a16:creationId xmlns:a16="http://schemas.microsoft.com/office/drawing/2014/main" id="{EB8CC766-1206-4372-ACAF-8230AF4D54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38" name="Freeform 24">
              <a:extLst>
                <a:ext uri="{FF2B5EF4-FFF2-40B4-BE49-F238E27FC236}">
                  <a16:creationId xmlns:a16="http://schemas.microsoft.com/office/drawing/2014/main" id="{1C8E2511-2489-47B2-9C19-C410910DD9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39" name="Freeform 25">
              <a:extLst>
                <a:ext uri="{FF2B5EF4-FFF2-40B4-BE49-F238E27FC236}">
                  <a16:creationId xmlns:a16="http://schemas.microsoft.com/office/drawing/2014/main" id="{D7820196-0A47-47EF-832C-A688E897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40" name="Freeform 26">
              <a:extLst>
                <a:ext uri="{FF2B5EF4-FFF2-40B4-BE49-F238E27FC236}">
                  <a16:creationId xmlns:a16="http://schemas.microsoft.com/office/drawing/2014/main" id="{4982E0BF-34AE-48A3-AD6B-E0F3CD05D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41" name="Freeform 27">
              <a:extLst>
                <a:ext uri="{FF2B5EF4-FFF2-40B4-BE49-F238E27FC236}">
                  <a16:creationId xmlns:a16="http://schemas.microsoft.com/office/drawing/2014/main" id="{CD34643B-9DF2-4310-8868-48252C339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42" name="Freeform 28">
              <a:extLst>
                <a:ext uri="{FF2B5EF4-FFF2-40B4-BE49-F238E27FC236}">
                  <a16:creationId xmlns:a16="http://schemas.microsoft.com/office/drawing/2014/main" id="{4E020C4E-AF64-44A8-B830-779541D8D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43" name="Freeform 29">
              <a:extLst>
                <a:ext uri="{FF2B5EF4-FFF2-40B4-BE49-F238E27FC236}">
                  <a16:creationId xmlns:a16="http://schemas.microsoft.com/office/drawing/2014/main" id="{D97BC3D3-B1B3-4825-9169-BBEF1DBCF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44" name="Freeform 30">
              <a:extLst>
                <a:ext uri="{FF2B5EF4-FFF2-40B4-BE49-F238E27FC236}">
                  <a16:creationId xmlns:a16="http://schemas.microsoft.com/office/drawing/2014/main" id="{A750DC4F-1DAF-470E-98C6-6C68DEB93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45" name="Freeform 31">
              <a:extLst>
                <a:ext uri="{FF2B5EF4-FFF2-40B4-BE49-F238E27FC236}">
                  <a16:creationId xmlns:a16="http://schemas.microsoft.com/office/drawing/2014/main" id="{2F99594A-5BBD-4E10-A818-8BE52B7D9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6999663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4" name="Rectangle 143">
            <a:extLst>
              <a:ext uri="{FF2B5EF4-FFF2-40B4-BE49-F238E27FC236}">
                <a16:creationId xmlns:a16="http://schemas.microsoft.com/office/drawing/2014/main" id="{C2E4E997-8672-4FFD-B8EC-9932A8E47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5" name="Picture 2">
            <a:extLst>
              <a:ext uri="{FF2B5EF4-FFF2-40B4-BE49-F238E27FC236}">
                <a16:creationId xmlns:a16="http://schemas.microsoft.com/office/drawing/2014/main" id="{FE6BA9E6-1D9E-4D30-B528-D49FA1342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55797E3-4A77-D3C4-728F-56294FCBE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4459286" cy="1478570"/>
          </a:xfrm>
        </p:spPr>
        <p:txBody>
          <a:bodyPr>
            <a:normAutofit/>
          </a:bodyPr>
          <a:lstStyle/>
          <a:p>
            <a:r>
              <a:rPr lang="en-US" sz="3200"/>
              <a:t>Confirmed Cases by Country / Region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B959C6-9C0F-2B4A-7F08-9F7F17F6F8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4459287" cy="3965046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600"/>
              <a:t>Maharashtra tops the list with 369K confirmed cases, followed by Andhra Pradesh with 294K cases.</a:t>
            </a:r>
          </a:p>
          <a:p>
            <a:pPr>
              <a:lnSpc>
                <a:spcPct val="110000"/>
              </a:lnSpc>
            </a:pPr>
            <a:endParaRPr lang="en-US" sz="1600"/>
          </a:p>
          <a:p>
            <a:pPr>
              <a:lnSpc>
                <a:spcPct val="110000"/>
              </a:lnSpc>
            </a:pPr>
            <a:r>
              <a:rPr lang="en-US" sz="1600"/>
              <a:t>The data shows a significant concentration of cases in a few states, with Maharashtra, Andhra Pradesh, and Karnataka leading the numbers.</a:t>
            </a:r>
          </a:p>
          <a:p>
            <a:pPr>
              <a:lnSpc>
                <a:spcPct val="110000"/>
              </a:lnSpc>
            </a:pPr>
            <a:endParaRPr lang="en-US" sz="1600"/>
          </a:p>
          <a:p>
            <a:pPr>
              <a:lnSpc>
                <a:spcPct val="110000"/>
              </a:lnSpc>
            </a:pPr>
            <a:r>
              <a:rPr lang="en-US" sz="1600"/>
              <a:t>States like Goa, Uttarakhand, and Jammu and Kashmir report comparatively lower numbers, each with fewer than 20K cases.</a:t>
            </a:r>
            <a:endParaRPr lang="en-IN" sz="1600"/>
          </a:p>
        </p:txBody>
      </p:sp>
      <p:pic>
        <p:nvPicPr>
          <p:cNvPr id="5" name="Picture 4" descr="A screen shot of a graph&#10;&#10;Description automatically generated">
            <a:extLst>
              <a:ext uri="{FF2B5EF4-FFF2-40B4-BE49-F238E27FC236}">
                <a16:creationId xmlns:a16="http://schemas.microsoft.com/office/drawing/2014/main" id="{5546081E-5416-CFE3-A2A9-5E621EC1F6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9292" y="618518"/>
            <a:ext cx="4249694" cy="5596015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grpSp>
        <p:nvGrpSpPr>
          <p:cNvPr id="101" name="Group 100">
            <a:extLst>
              <a:ext uri="{FF2B5EF4-FFF2-40B4-BE49-F238E27FC236}">
                <a16:creationId xmlns:a16="http://schemas.microsoft.com/office/drawing/2014/main" id="{453E4DEE-E996-40F8-8635-0FF43D734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46" name="Rectangle 5">
              <a:extLst>
                <a:ext uri="{FF2B5EF4-FFF2-40B4-BE49-F238E27FC236}">
                  <a16:creationId xmlns:a16="http://schemas.microsoft.com/office/drawing/2014/main" id="{08BD1D3E-43CE-49EB-A424-0738950C64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47" name="Freeform 6">
              <a:extLst>
                <a:ext uri="{FF2B5EF4-FFF2-40B4-BE49-F238E27FC236}">
                  <a16:creationId xmlns:a16="http://schemas.microsoft.com/office/drawing/2014/main" id="{E9182037-E3FA-489A-95D5-29E424842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48" name="Freeform 7">
              <a:extLst>
                <a:ext uri="{FF2B5EF4-FFF2-40B4-BE49-F238E27FC236}">
                  <a16:creationId xmlns:a16="http://schemas.microsoft.com/office/drawing/2014/main" id="{E8864E76-AD7F-4BEE-B3F6-A78FA42AE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49" name="Freeform 8">
              <a:extLst>
                <a:ext uri="{FF2B5EF4-FFF2-40B4-BE49-F238E27FC236}">
                  <a16:creationId xmlns:a16="http://schemas.microsoft.com/office/drawing/2014/main" id="{8AD071B3-046D-4479-91FE-01E9AD7C8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0" name="Freeform 9">
              <a:extLst>
                <a:ext uri="{FF2B5EF4-FFF2-40B4-BE49-F238E27FC236}">
                  <a16:creationId xmlns:a16="http://schemas.microsoft.com/office/drawing/2014/main" id="{91D776F5-E902-4A4D-A75D-A46E063C9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1" name="Freeform 10">
              <a:extLst>
                <a:ext uri="{FF2B5EF4-FFF2-40B4-BE49-F238E27FC236}">
                  <a16:creationId xmlns:a16="http://schemas.microsoft.com/office/drawing/2014/main" id="{EBED8F24-A998-4952-AB68-E2074F074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2" name="Freeform 11">
              <a:extLst>
                <a:ext uri="{FF2B5EF4-FFF2-40B4-BE49-F238E27FC236}">
                  <a16:creationId xmlns:a16="http://schemas.microsoft.com/office/drawing/2014/main" id="{74D7A646-8CDC-49B3-9C44-3EF38DB426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3" name="Freeform 12">
              <a:extLst>
                <a:ext uri="{FF2B5EF4-FFF2-40B4-BE49-F238E27FC236}">
                  <a16:creationId xmlns:a16="http://schemas.microsoft.com/office/drawing/2014/main" id="{D4E99D14-E4F4-419B-9AAF-8D1CEAB28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4" name="Freeform 13">
              <a:extLst>
                <a:ext uri="{FF2B5EF4-FFF2-40B4-BE49-F238E27FC236}">
                  <a16:creationId xmlns:a16="http://schemas.microsoft.com/office/drawing/2014/main" id="{377E106C-5445-4A52-9F7E-DA1738744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5" name="Freeform 14">
              <a:extLst>
                <a:ext uri="{FF2B5EF4-FFF2-40B4-BE49-F238E27FC236}">
                  <a16:creationId xmlns:a16="http://schemas.microsoft.com/office/drawing/2014/main" id="{752BFE96-D378-4BAE-A64B-F851A34C4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6" name="Freeform 15">
              <a:extLst>
                <a:ext uri="{FF2B5EF4-FFF2-40B4-BE49-F238E27FC236}">
                  <a16:creationId xmlns:a16="http://schemas.microsoft.com/office/drawing/2014/main" id="{B88FFB19-5A5E-4078-B467-9D4ABD21B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7" name="Line 16">
              <a:extLst>
                <a:ext uri="{FF2B5EF4-FFF2-40B4-BE49-F238E27FC236}">
                  <a16:creationId xmlns:a16="http://schemas.microsoft.com/office/drawing/2014/main" id="{11042975-3D19-4728-BCDA-D3F5CD633E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8" name="Freeform 17">
              <a:extLst>
                <a:ext uri="{FF2B5EF4-FFF2-40B4-BE49-F238E27FC236}">
                  <a16:creationId xmlns:a16="http://schemas.microsoft.com/office/drawing/2014/main" id="{A28972BD-D2E1-4DCA-A907-2E3B6F606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9" name="Freeform 18">
              <a:extLst>
                <a:ext uri="{FF2B5EF4-FFF2-40B4-BE49-F238E27FC236}">
                  <a16:creationId xmlns:a16="http://schemas.microsoft.com/office/drawing/2014/main" id="{1C806824-5C2D-4747-B038-69EE4074B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60" name="Freeform 19">
              <a:extLst>
                <a:ext uri="{FF2B5EF4-FFF2-40B4-BE49-F238E27FC236}">
                  <a16:creationId xmlns:a16="http://schemas.microsoft.com/office/drawing/2014/main" id="{3B33F710-16D7-4F48-BFCA-66C9CA2352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61" name="Freeform 20">
              <a:extLst>
                <a:ext uri="{FF2B5EF4-FFF2-40B4-BE49-F238E27FC236}">
                  <a16:creationId xmlns:a16="http://schemas.microsoft.com/office/drawing/2014/main" id="{6C8C8ED4-90FA-4E97-AAF0-D5D51E6A9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62" name="Rectangle 21">
              <a:extLst>
                <a:ext uri="{FF2B5EF4-FFF2-40B4-BE49-F238E27FC236}">
                  <a16:creationId xmlns:a16="http://schemas.microsoft.com/office/drawing/2014/main" id="{6C5EB9C1-B25F-4172-8A96-5950ECC828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63" name="Freeform 22">
              <a:extLst>
                <a:ext uri="{FF2B5EF4-FFF2-40B4-BE49-F238E27FC236}">
                  <a16:creationId xmlns:a16="http://schemas.microsoft.com/office/drawing/2014/main" id="{097E6E8A-9373-4655-882B-21715CCE9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64" name="Freeform 23">
              <a:extLst>
                <a:ext uri="{FF2B5EF4-FFF2-40B4-BE49-F238E27FC236}">
                  <a16:creationId xmlns:a16="http://schemas.microsoft.com/office/drawing/2014/main" id="{EB8CC766-1206-4372-ACAF-8230AF4D54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65" name="Freeform 24">
              <a:extLst>
                <a:ext uri="{FF2B5EF4-FFF2-40B4-BE49-F238E27FC236}">
                  <a16:creationId xmlns:a16="http://schemas.microsoft.com/office/drawing/2014/main" id="{1C8E2511-2489-47B2-9C19-C410910DD9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66" name="Freeform 25">
              <a:extLst>
                <a:ext uri="{FF2B5EF4-FFF2-40B4-BE49-F238E27FC236}">
                  <a16:creationId xmlns:a16="http://schemas.microsoft.com/office/drawing/2014/main" id="{D7820196-0A47-47EF-832C-A688E897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67" name="Freeform 26">
              <a:extLst>
                <a:ext uri="{FF2B5EF4-FFF2-40B4-BE49-F238E27FC236}">
                  <a16:creationId xmlns:a16="http://schemas.microsoft.com/office/drawing/2014/main" id="{4982E0BF-34AE-48A3-AD6B-E0F3CD05D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68" name="Freeform 27">
              <a:extLst>
                <a:ext uri="{FF2B5EF4-FFF2-40B4-BE49-F238E27FC236}">
                  <a16:creationId xmlns:a16="http://schemas.microsoft.com/office/drawing/2014/main" id="{CD34643B-9DF2-4310-8868-48252C339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69" name="Freeform 28">
              <a:extLst>
                <a:ext uri="{FF2B5EF4-FFF2-40B4-BE49-F238E27FC236}">
                  <a16:creationId xmlns:a16="http://schemas.microsoft.com/office/drawing/2014/main" id="{4E020C4E-AF64-44A8-B830-779541D8D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70" name="Freeform 29">
              <a:extLst>
                <a:ext uri="{FF2B5EF4-FFF2-40B4-BE49-F238E27FC236}">
                  <a16:creationId xmlns:a16="http://schemas.microsoft.com/office/drawing/2014/main" id="{D97BC3D3-B1B3-4825-9169-BBEF1DBCF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71" name="Freeform 30">
              <a:extLst>
                <a:ext uri="{FF2B5EF4-FFF2-40B4-BE49-F238E27FC236}">
                  <a16:creationId xmlns:a16="http://schemas.microsoft.com/office/drawing/2014/main" id="{A750DC4F-1DAF-470E-98C6-6C68DEB93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72" name="Freeform 31">
              <a:extLst>
                <a:ext uri="{FF2B5EF4-FFF2-40B4-BE49-F238E27FC236}">
                  <a16:creationId xmlns:a16="http://schemas.microsoft.com/office/drawing/2014/main" id="{2F99594A-5BBD-4E10-A818-8BE52B7D9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917366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2E4E997-8672-4FFD-B8EC-9932A8E47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FE6BA9E6-1D9E-4D30-B528-D49FA1342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7AEDAB4-C743-F132-BFD4-A1AF54D08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4459286" cy="1478570"/>
          </a:xfrm>
        </p:spPr>
        <p:txBody>
          <a:bodyPr>
            <a:normAutofit/>
          </a:bodyPr>
          <a:lstStyle/>
          <a:p>
            <a:r>
              <a:rPr lang="en-US" sz="3200"/>
              <a:t>COVID-19 Statistics by State/Union Territory</a:t>
            </a:r>
            <a:endParaRPr lang="en-IN" sz="3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EB62E-CC53-C45F-2CD8-4B7DD9C337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4459287" cy="3965046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700"/>
              <a:t>Varied Impact: Different states experienced varying degrees of COVID-19 severity, showing that no single approach fits all.</a:t>
            </a:r>
          </a:p>
          <a:p>
            <a:pPr>
              <a:lnSpc>
                <a:spcPct val="110000"/>
              </a:lnSpc>
            </a:pPr>
            <a:endParaRPr lang="en-US" sz="1700"/>
          </a:p>
          <a:p>
            <a:pPr>
              <a:lnSpc>
                <a:spcPct val="110000"/>
              </a:lnSpc>
            </a:pPr>
            <a:r>
              <a:rPr lang="en-US" sz="1700"/>
              <a:t>Recovery Efforts: Effective recovery rates in many states demonstrate successful healthcare responses.</a:t>
            </a:r>
          </a:p>
          <a:p>
            <a:pPr>
              <a:lnSpc>
                <a:spcPct val="110000"/>
              </a:lnSpc>
            </a:pPr>
            <a:endParaRPr lang="en-US" sz="1700"/>
          </a:p>
          <a:p>
            <a:pPr>
              <a:lnSpc>
                <a:spcPct val="110000"/>
              </a:lnSpc>
            </a:pPr>
            <a:r>
              <a:rPr lang="en-US" sz="1700"/>
              <a:t>Mortality Rates: Lower mortality rates in several states indicate effective disease management and prevention strategies.</a:t>
            </a:r>
            <a:endParaRPr lang="en-IN" sz="1700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53E76091-EC06-795A-2EEE-26545B98BA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229785"/>
            <a:ext cx="5456279" cy="2373480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453E4DEE-E996-40F8-8635-0FF43D734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5" name="Rectangle 5">
              <a:extLst>
                <a:ext uri="{FF2B5EF4-FFF2-40B4-BE49-F238E27FC236}">
                  <a16:creationId xmlns:a16="http://schemas.microsoft.com/office/drawing/2014/main" id="{08BD1D3E-43CE-49EB-A424-0738950C64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E9182037-E3FA-489A-95D5-29E424842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E8864E76-AD7F-4BEE-B3F6-A78FA42AE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8AD071B3-046D-4479-91FE-01E9AD7C8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9">
              <a:extLst>
                <a:ext uri="{FF2B5EF4-FFF2-40B4-BE49-F238E27FC236}">
                  <a16:creationId xmlns:a16="http://schemas.microsoft.com/office/drawing/2014/main" id="{91D776F5-E902-4A4D-A75D-A46E063C9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EBED8F24-A998-4952-AB68-E2074F074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74D7A646-8CDC-49B3-9C44-3EF38DB426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12">
              <a:extLst>
                <a:ext uri="{FF2B5EF4-FFF2-40B4-BE49-F238E27FC236}">
                  <a16:creationId xmlns:a16="http://schemas.microsoft.com/office/drawing/2014/main" id="{D4E99D14-E4F4-419B-9AAF-8D1CEAB28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Freeform 13">
              <a:extLst>
                <a:ext uri="{FF2B5EF4-FFF2-40B4-BE49-F238E27FC236}">
                  <a16:creationId xmlns:a16="http://schemas.microsoft.com/office/drawing/2014/main" id="{377E106C-5445-4A52-9F7E-DA1738744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14">
              <a:extLst>
                <a:ext uri="{FF2B5EF4-FFF2-40B4-BE49-F238E27FC236}">
                  <a16:creationId xmlns:a16="http://schemas.microsoft.com/office/drawing/2014/main" id="{752BFE96-D378-4BAE-A64B-F851A34C4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5">
              <a:extLst>
                <a:ext uri="{FF2B5EF4-FFF2-40B4-BE49-F238E27FC236}">
                  <a16:creationId xmlns:a16="http://schemas.microsoft.com/office/drawing/2014/main" id="{B88FFB19-5A5E-4078-B467-9D4ABD21B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Line 16">
              <a:extLst>
                <a:ext uri="{FF2B5EF4-FFF2-40B4-BE49-F238E27FC236}">
                  <a16:creationId xmlns:a16="http://schemas.microsoft.com/office/drawing/2014/main" id="{11042975-3D19-4728-BCDA-D3F5CD633E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17">
              <a:extLst>
                <a:ext uri="{FF2B5EF4-FFF2-40B4-BE49-F238E27FC236}">
                  <a16:creationId xmlns:a16="http://schemas.microsoft.com/office/drawing/2014/main" id="{A28972BD-D2E1-4DCA-A907-2E3B6F606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18">
              <a:extLst>
                <a:ext uri="{FF2B5EF4-FFF2-40B4-BE49-F238E27FC236}">
                  <a16:creationId xmlns:a16="http://schemas.microsoft.com/office/drawing/2014/main" id="{1C806824-5C2D-4747-B038-69EE4074B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19">
              <a:extLst>
                <a:ext uri="{FF2B5EF4-FFF2-40B4-BE49-F238E27FC236}">
                  <a16:creationId xmlns:a16="http://schemas.microsoft.com/office/drawing/2014/main" id="{3B33F710-16D7-4F48-BFCA-66C9CA2352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20">
              <a:extLst>
                <a:ext uri="{FF2B5EF4-FFF2-40B4-BE49-F238E27FC236}">
                  <a16:creationId xmlns:a16="http://schemas.microsoft.com/office/drawing/2014/main" id="{6C8C8ED4-90FA-4E97-AAF0-D5D51E6A9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Rectangle 21">
              <a:extLst>
                <a:ext uri="{FF2B5EF4-FFF2-40B4-BE49-F238E27FC236}">
                  <a16:creationId xmlns:a16="http://schemas.microsoft.com/office/drawing/2014/main" id="{6C5EB9C1-B25F-4172-8A96-5950ECC828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22">
              <a:extLst>
                <a:ext uri="{FF2B5EF4-FFF2-40B4-BE49-F238E27FC236}">
                  <a16:creationId xmlns:a16="http://schemas.microsoft.com/office/drawing/2014/main" id="{097E6E8A-9373-4655-882B-21715CCE9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23">
              <a:extLst>
                <a:ext uri="{FF2B5EF4-FFF2-40B4-BE49-F238E27FC236}">
                  <a16:creationId xmlns:a16="http://schemas.microsoft.com/office/drawing/2014/main" id="{EB8CC766-1206-4372-ACAF-8230AF4D54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24">
              <a:extLst>
                <a:ext uri="{FF2B5EF4-FFF2-40B4-BE49-F238E27FC236}">
                  <a16:creationId xmlns:a16="http://schemas.microsoft.com/office/drawing/2014/main" id="{1C8E2511-2489-47B2-9C19-C410910DD9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25">
              <a:extLst>
                <a:ext uri="{FF2B5EF4-FFF2-40B4-BE49-F238E27FC236}">
                  <a16:creationId xmlns:a16="http://schemas.microsoft.com/office/drawing/2014/main" id="{D7820196-0A47-47EF-832C-A688E897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Freeform 26">
              <a:extLst>
                <a:ext uri="{FF2B5EF4-FFF2-40B4-BE49-F238E27FC236}">
                  <a16:creationId xmlns:a16="http://schemas.microsoft.com/office/drawing/2014/main" id="{4982E0BF-34AE-48A3-AD6B-E0F3CD05D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Freeform 27">
              <a:extLst>
                <a:ext uri="{FF2B5EF4-FFF2-40B4-BE49-F238E27FC236}">
                  <a16:creationId xmlns:a16="http://schemas.microsoft.com/office/drawing/2014/main" id="{CD34643B-9DF2-4310-8868-48252C339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Freeform 28">
              <a:extLst>
                <a:ext uri="{FF2B5EF4-FFF2-40B4-BE49-F238E27FC236}">
                  <a16:creationId xmlns:a16="http://schemas.microsoft.com/office/drawing/2014/main" id="{4E020C4E-AF64-44A8-B830-779541D8D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Freeform 29">
              <a:extLst>
                <a:ext uri="{FF2B5EF4-FFF2-40B4-BE49-F238E27FC236}">
                  <a16:creationId xmlns:a16="http://schemas.microsoft.com/office/drawing/2014/main" id="{D97BC3D3-B1B3-4825-9169-BBEF1DBCF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Freeform 30">
              <a:extLst>
                <a:ext uri="{FF2B5EF4-FFF2-40B4-BE49-F238E27FC236}">
                  <a16:creationId xmlns:a16="http://schemas.microsoft.com/office/drawing/2014/main" id="{A750DC4F-1DAF-470E-98C6-6C68DEB93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Freeform 31">
              <a:extLst>
                <a:ext uri="{FF2B5EF4-FFF2-40B4-BE49-F238E27FC236}">
                  <a16:creationId xmlns:a16="http://schemas.microsoft.com/office/drawing/2014/main" id="{2F99594A-5BBD-4E10-A818-8BE52B7D9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3288069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ED15B-02F2-7CF4-8C23-EFD3C4E9D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262" y="361168"/>
            <a:ext cx="7412037" cy="1338897"/>
          </a:xfrm>
        </p:spPr>
        <p:txBody>
          <a:bodyPr>
            <a:normAutofit/>
          </a:bodyPr>
          <a:lstStyle/>
          <a:p>
            <a:r>
              <a:rPr lang="en-US" sz="2800" dirty="0"/>
              <a:t>COVID-19 Cases, Recoveries, and Deaths Trends &amp; Forecast</a:t>
            </a:r>
            <a:endParaRPr lang="en-IN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1896FC-5691-4E25-0142-4D2D546C4F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1000" y="4100377"/>
            <a:ext cx="10003275" cy="1890847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FF495B17-D921-EB37-CBFD-7A8C26D2E0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4845073"/>
              </p:ext>
            </p:extLst>
          </p:nvPr>
        </p:nvGraphicFramePr>
        <p:xfrm>
          <a:off x="1551781" y="1085303"/>
          <a:ext cx="9412288" cy="36298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6214568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10894-777A-5B29-60A2-96CBA60CC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r>
              <a:rPr lang="en-US"/>
              <a:t>"Daily Confirmed Cases, Recovered, and Deaths -</a:t>
            </a:r>
            <a:endParaRPr lang="en-IN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EBDB9967-74E2-51B5-E358-ED31CABA61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5617"/>
          <a:stretch/>
        </p:blipFill>
        <p:spPr>
          <a:xfrm>
            <a:off x="1141411" y="3361274"/>
            <a:ext cx="4689234" cy="1326076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36918-4593-608A-87DE-45BB48A57F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6727" y="2249487"/>
            <a:ext cx="4710683" cy="3541714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900"/>
              <a:t>Confirmed Cases (Yellow Bars): A consistent upward trend, highlighting the ongoing spread.</a:t>
            </a:r>
          </a:p>
          <a:p>
            <a:pPr>
              <a:lnSpc>
                <a:spcPct val="110000"/>
              </a:lnSpc>
            </a:pPr>
            <a:r>
              <a:rPr lang="en-US" sz="1900"/>
              <a:t>Recovered Cases (Green Bars): Steady increases, reflecting effective recovery efforts.</a:t>
            </a:r>
          </a:p>
          <a:p>
            <a:pPr>
              <a:lnSpc>
                <a:spcPct val="110000"/>
              </a:lnSpc>
            </a:pPr>
            <a:r>
              <a:rPr lang="en-US" sz="1900"/>
              <a:t>Deaths (Red Diamonds): A relatively stable number, showing controlled fatalities compared to confirmed and recovered cases.</a:t>
            </a:r>
            <a:endParaRPr lang="en-IN" sz="1900"/>
          </a:p>
        </p:txBody>
      </p:sp>
    </p:spTree>
    <p:extLst>
      <p:ext uri="{BB962C8B-B14F-4D97-AF65-F5344CB8AC3E}">
        <p14:creationId xmlns:p14="http://schemas.microsoft.com/office/powerpoint/2010/main" val="21122717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65461-C3D8-1168-871A-D1FFA89D7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17241"/>
            <a:ext cx="11252717" cy="6382139"/>
          </a:xfrm>
        </p:spPr>
        <p:txBody>
          <a:bodyPr>
            <a:normAutofit/>
          </a:bodyPr>
          <a:lstStyle/>
          <a:p>
            <a:pPr algn="ctr"/>
            <a:r>
              <a:rPr lang="en-IN" sz="9600" dirty="0"/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21407135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93813dd7ca6ad654711aa0ab317e03a3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f11dc0ce689dd3925e84e4e35398c6e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03EF818-EDF6-480C-9B86-0A3B979BCCF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518BD99-41E9-467C-9777-74587F831718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4C8C32A8-E4D9-473C-833A-8950C6E7C0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design</Template>
  <TotalTime>105</TotalTime>
  <Words>522</Words>
  <Application>Microsoft Office PowerPoint</Application>
  <PresentationFormat>Widescreen</PresentationFormat>
  <Paragraphs>42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Tw Cen MT</vt:lpstr>
      <vt:lpstr>Circuit</vt:lpstr>
      <vt:lpstr>India Pandemic Tracker: COVID-19 Analytics</vt:lpstr>
      <vt:lpstr>Introduction:</vt:lpstr>
      <vt:lpstr>Objective: </vt:lpstr>
      <vt:lpstr>PowerPoint Presentation</vt:lpstr>
      <vt:lpstr>Cumulative Confirmed, Deaths, Recovered by Date</vt:lpstr>
      <vt:lpstr>Confirmed Cases by Country / Region</vt:lpstr>
      <vt:lpstr>COVID-19 Statistics by State/Union Territory</vt:lpstr>
      <vt:lpstr>COVID-19 Cases, Recoveries, and Deaths Trends &amp; Forecast</vt:lpstr>
      <vt:lpstr>"Daily Confirmed Cases, Recovered, and Deaths -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Pratyush Rai</dc:creator>
  <cp:lastModifiedBy>Pratyush Rai</cp:lastModifiedBy>
  <cp:revision>5</cp:revision>
  <dcterms:created xsi:type="dcterms:W3CDTF">2024-10-24T05:07:40Z</dcterms:created>
  <dcterms:modified xsi:type="dcterms:W3CDTF">2024-10-29T01:24:47Z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